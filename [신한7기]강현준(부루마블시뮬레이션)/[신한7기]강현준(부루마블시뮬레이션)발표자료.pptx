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6" r:id="rId4"/>
  </p:sldMasterIdLst>
  <p:notesMasterIdLst>
    <p:notesMasterId r:id="rId25"/>
  </p:notesMasterIdLst>
  <p:sldIdLst>
    <p:sldId id="281" r:id="rId5"/>
    <p:sldId id="282" r:id="rId6"/>
    <p:sldId id="320" r:id="rId7"/>
    <p:sldId id="321" r:id="rId8"/>
    <p:sldId id="312" r:id="rId9"/>
    <p:sldId id="323" r:id="rId10"/>
    <p:sldId id="322" r:id="rId11"/>
    <p:sldId id="324" r:id="rId12"/>
    <p:sldId id="326" r:id="rId13"/>
    <p:sldId id="336" r:id="rId14"/>
    <p:sldId id="328" r:id="rId15"/>
    <p:sldId id="334" r:id="rId16"/>
    <p:sldId id="329" r:id="rId17"/>
    <p:sldId id="330" r:id="rId18"/>
    <p:sldId id="331" r:id="rId19"/>
    <p:sldId id="332" r:id="rId20"/>
    <p:sldId id="333" r:id="rId21"/>
    <p:sldId id="337" r:id="rId22"/>
    <p:sldId id="335" r:id="rId23"/>
    <p:sldId id="263" r:id="rId24"/>
  </p:sldIdLst>
  <p:sldSz cx="12192000" cy="6858000"/>
  <p:notesSz cx="6858000" cy="9144000"/>
  <p:embeddedFontLst>
    <p:embeddedFont>
      <p:font typeface="a옛날사진관3" panose="02020600000000000000" pitchFamily="18" charset="-127"/>
      <p:regular r:id="rId26"/>
    </p:embeddedFont>
    <p:embeddedFont>
      <p:font typeface="a옛날사진관4" panose="02020600000000000000" pitchFamily="18" charset="-127"/>
      <p:regular r:id="rId27"/>
    </p:embeddedFont>
    <p:embeddedFont>
      <p:font typeface="나눔스퀘어" panose="020B0600000101010101" pitchFamily="50" charset="-127"/>
      <p:regular r:id="rId28"/>
    </p:embeddedFont>
    <p:embeddedFont>
      <p:font typeface="나눔스퀘어 Bold" panose="020B0600000101010101" pitchFamily="50" charset="-127"/>
      <p:bold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D0D207-8E32-4C21-8BB2-6C37DDB44E63}" v="11" dt="2025-06-12T08:13:13.874"/>
  </p1510:revLst>
</p1510:revInfo>
</file>

<file path=ppt/tableStyles.xml><?xml version="1.0" encoding="utf-8"?>
<a:tblStyleLst xmlns:a="http://schemas.openxmlformats.org/drawingml/2006/main" def="{5B8C9F41-47E2-468C-9F40-15FC75A0D3E8}">
  <a:tblStyle styleId="{5B8C9F41-47E2-468C-9F40-15FC75A0D3E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3" autoAdjust="0"/>
    <p:restoredTop sz="85714" autoAdjust="0"/>
  </p:normalViewPr>
  <p:slideViewPr>
    <p:cSldViewPr snapToGrid="0">
      <p:cViewPr varScale="1">
        <p:scale>
          <a:sx n="109" d="100"/>
          <a:sy n="109" d="100"/>
        </p:scale>
        <p:origin x="100" y="1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247A-F75E-48F3-963D-4BA8881AF3C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6164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247A-F75E-48F3-963D-4BA8881AF3C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930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7">
          <a:extLst>
            <a:ext uri="{FF2B5EF4-FFF2-40B4-BE49-F238E27FC236}">
              <a16:creationId xmlns:a16="http://schemas.microsoft.com/office/drawing/2014/main" id="{046A1BE4-DB6B-C4DC-2685-B5F42E312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86fa6133bc_4_126:notes">
            <a:extLst>
              <a:ext uri="{FF2B5EF4-FFF2-40B4-BE49-F238E27FC236}">
                <a16:creationId xmlns:a16="http://schemas.microsoft.com/office/drawing/2014/main" id="{A028AD53-D74E-15BB-60F8-6966E15341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86fa6133bc_4_126:notes">
            <a:extLst>
              <a:ext uri="{FF2B5EF4-FFF2-40B4-BE49-F238E27FC236}">
                <a16:creationId xmlns:a16="http://schemas.microsoft.com/office/drawing/2014/main" id="{61026CC7-7C76-978D-77AC-EF4B901133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8167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7">
          <a:extLst>
            <a:ext uri="{FF2B5EF4-FFF2-40B4-BE49-F238E27FC236}">
              <a16:creationId xmlns:a16="http://schemas.microsoft.com/office/drawing/2014/main" id="{95CE45FF-E252-F31C-2DE7-96107E4F3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86fa6133bc_4_126:notes">
            <a:extLst>
              <a:ext uri="{FF2B5EF4-FFF2-40B4-BE49-F238E27FC236}">
                <a16:creationId xmlns:a16="http://schemas.microsoft.com/office/drawing/2014/main" id="{59766085-28DC-A708-390E-CB0FA1F747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86fa6133bc_4_126:notes">
            <a:extLst>
              <a:ext uri="{FF2B5EF4-FFF2-40B4-BE49-F238E27FC236}">
                <a16:creationId xmlns:a16="http://schemas.microsoft.com/office/drawing/2014/main" id="{9A587B3C-4957-8460-26F2-300255EAFD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="0" dirty="0"/>
          </a:p>
        </p:txBody>
      </p:sp>
    </p:spTree>
    <p:extLst>
      <p:ext uri="{BB962C8B-B14F-4D97-AF65-F5344CB8AC3E}">
        <p14:creationId xmlns:p14="http://schemas.microsoft.com/office/powerpoint/2010/main" val="2703325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7">
          <a:extLst>
            <a:ext uri="{FF2B5EF4-FFF2-40B4-BE49-F238E27FC236}">
              <a16:creationId xmlns:a16="http://schemas.microsoft.com/office/drawing/2014/main" id="{407C155D-066B-AB76-1E73-FAAE5BD62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86fa6133bc_4_126:notes">
            <a:extLst>
              <a:ext uri="{FF2B5EF4-FFF2-40B4-BE49-F238E27FC236}">
                <a16:creationId xmlns:a16="http://schemas.microsoft.com/office/drawing/2014/main" id="{0E6AB93C-3256-4CC2-D91F-1A8D012307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86fa6133bc_4_126:notes">
            <a:extLst>
              <a:ext uri="{FF2B5EF4-FFF2-40B4-BE49-F238E27FC236}">
                <a16:creationId xmlns:a16="http://schemas.microsoft.com/office/drawing/2014/main" id="{E1F248E8-BEF8-5F33-5D47-80183EABBF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="0" dirty="0"/>
          </a:p>
        </p:txBody>
      </p:sp>
    </p:spTree>
    <p:extLst>
      <p:ext uri="{BB962C8B-B14F-4D97-AF65-F5344CB8AC3E}">
        <p14:creationId xmlns:p14="http://schemas.microsoft.com/office/powerpoint/2010/main" val="20188767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7">
          <a:extLst>
            <a:ext uri="{FF2B5EF4-FFF2-40B4-BE49-F238E27FC236}">
              <a16:creationId xmlns:a16="http://schemas.microsoft.com/office/drawing/2014/main" id="{F140FC22-DB3E-DFE1-DCF3-127182F01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86fa6133bc_4_126:notes">
            <a:extLst>
              <a:ext uri="{FF2B5EF4-FFF2-40B4-BE49-F238E27FC236}">
                <a16:creationId xmlns:a16="http://schemas.microsoft.com/office/drawing/2014/main" id="{5B7D8C81-3A67-40BB-E275-FC8BFC5FAD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86fa6133bc_4_126:notes">
            <a:extLst>
              <a:ext uri="{FF2B5EF4-FFF2-40B4-BE49-F238E27FC236}">
                <a16:creationId xmlns:a16="http://schemas.microsoft.com/office/drawing/2014/main" id="{6276BDA0-AC89-247F-604C-FFD3C43BE2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="0" dirty="0"/>
          </a:p>
        </p:txBody>
      </p:sp>
    </p:spTree>
    <p:extLst>
      <p:ext uri="{BB962C8B-B14F-4D97-AF65-F5344CB8AC3E}">
        <p14:creationId xmlns:p14="http://schemas.microsoft.com/office/powerpoint/2010/main" val="34031458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7">
          <a:extLst>
            <a:ext uri="{FF2B5EF4-FFF2-40B4-BE49-F238E27FC236}">
              <a16:creationId xmlns:a16="http://schemas.microsoft.com/office/drawing/2014/main" id="{DCC431F3-A2CD-60AA-17CF-4E10DC6ED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86fa6133bc_4_126:notes">
            <a:extLst>
              <a:ext uri="{FF2B5EF4-FFF2-40B4-BE49-F238E27FC236}">
                <a16:creationId xmlns:a16="http://schemas.microsoft.com/office/drawing/2014/main" id="{64096C44-1F2D-43F2-1D69-373E4D0B0D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86fa6133bc_4_126:notes">
            <a:extLst>
              <a:ext uri="{FF2B5EF4-FFF2-40B4-BE49-F238E27FC236}">
                <a16:creationId xmlns:a16="http://schemas.microsoft.com/office/drawing/2014/main" id="{C56A5A19-52E8-2F4E-E1FD-9F4375B53B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="0" dirty="0"/>
          </a:p>
        </p:txBody>
      </p:sp>
    </p:spTree>
    <p:extLst>
      <p:ext uri="{BB962C8B-B14F-4D97-AF65-F5344CB8AC3E}">
        <p14:creationId xmlns:p14="http://schemas.microsoft.com/office/powerpoint/2010/main" val="2724946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7">
          <a:extLst>
            <a:ext uri="{FF2B5EF4-FFF2-40B4-BE49-F238E27FC236}">
              <a16:creationId xmlns:a16="http://schemas.microsoft.com/office/drawing/2014/main" id="{6ACFA147-EBF0-A19D-8B1F-D4FF4A286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86fa6133bc_4_126:notes">
            <a:extLst>
              <a:ext uri="{FF2B5EF4-FFF2-40B4-BE49-F238E27FC236}">
                <a16:creationId xmlns:a16="http://schemas.microsoft.com/office/drawing/2014/main" id="{9E2522C2-3B9C-1697-F8CE-61FE5940BE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86fa6133bc_4_126:notes">
            <a:extLst>
              <a:ext uri="{FF2B5EF4-FFF2-40B4-BE49-F238E27FC236}">
                <a16:creationId xmlns:a16="http://schemas.microsoft.com/office/drawing/2014/main" id="{C07C0195-EBE0-B405-143D-11C3D21E60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="0" dirty="0"/>
          </a:p>
        </p:txBody>
      </p:sp>
    </p:spTree>
    <p:extLst>
      <p:ext uri="{BB962C8B-B14F-4D97-AF65-F5344CB8AC3E}">
        <p14:creationId xmlns:p14="http://schemas.microsoft.com/office/powerpoint/2010/main" val="38465070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7">
          <a:extLst>
            <a:ext uri="{FF2B5EF4-FFF2-40B4-BE49-F238E27FC236}">
              <a16:creationId xmlns:a16="http://schemas.microsoft.com/office/drawing/2014/main" id="{3837F8AB-6764-A676-91CF-4E9284E20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86fa6133bc_4_126:notes">
            <a:extLst>
              <a:ext uri="{FF2B5EF4-FFF2-40B4-BE49-F238E27FC236}">
                <a16:creationId xmlns:a16="http://schemas.microsoft.com/office/drawing/2014/main" id="{DE665F43-1A88-911B-2564-85587EEA8D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86fa6133bc_4_126:notes">
            <a:extLst>
              <a:ext uri="{FF2B5EF4-FFF2-40B4-BE49-F238E27FC236}">
                <a16:creationId xmlns:a16="http://schemas.microsoft.com/office/drawing/2014/main" id="{90D5F147-7BBA-9708-6755-1E8571238A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="0" dirty="0"/>
          </a:p>
        </p:txBody>
      </p:sp>
    </p:spTree>
    <p:extLst>
      <p:ext uri="{BB962C8B-B14F-4D97-AF65-F5344CB8AC3E}">
        <p14:creationId xmlns:p14="http://schemas.microsoft.com/office/powerpoint/2010/main" val="12118603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7">
          <a:extLst>
            <a:ext uri="{FF2B5EF4-FFF2-40B4-BE49-F238E27FC236}">
              <a16:creationId xmlns:a16="http://schemas.microsoft.com/office/drawing/2014/main" id="{D23DD71C-280A-97F1-A3C0-37919185F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86fa6133bc_4_126:notes">
            <a:extLst>
              <a:ext uri="{FF2B5EF4-FFF2-40B4-BE49-F238E27FC236}">
                <a16:creationId xmlns:a16="http://schemas.microsoft.com/office/drawing/2014/main" id="{5086821C-1B6D-BC16-A091-C969AA9F8A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86fa6133bc_4_126:notes">
            <a:extLst>
              <a:ext uri="{FF2B5EF4-FFF2-40B4-BE49-F238E27FC236}">
                <a16:creationId xmlns:a16="http://schemas.microsoft.com/office/drawing/2014/main" id="{436EB557-AB85-2F18-1BB6-A5B48405FE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="0" dirty="0"/>
          </a:p>
        </p:txBody>
      </p:sp>
    </p:spTree>
    <p:extLst>
      <p:ext uri="{BB962C8B-B14F-4D97-AF65-F5344CB8AC3E}">
        <p14:creationId xmlns:p14="http://schemas.microsoft.com/office/powerpoint/2010/main" val="29573827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7">
          <a:extLst>
            <a:ext uri="{FF2B5EF4-FFF2-40B4-BE49-F238E27FC236}">
              <a16:creationId xmlns:a16="http://schemas.microsoft.com/office/drawing/2014/main" id="{8FE53592-C2ED-AE0A-471A-05E4A3469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86fa6133bc_4_126:notes">
            <a:extLst>
              <a:ext uri="{FF2B5EF4-FFF2-40B4-BE49-F238E27FC236}">
                <a16:creationId xmlns:a16="http://schemas.microsoft.com/office/drawing/2014/main" id="{D7A0952F-1CF2-124C-ED62-36FD6D958E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86fa6133bc_4_126:notes">
            <a:extLst>
              <a:ext uri="{FF2B5EF4-FFF2-40B4-BE49-F238E27FC236}">
                <a16:creationId xmlns:a16="http://schemas.microsoft.com/office/drawing/2014/main" id="{7D5062FB-AAAF-DF6E-DCED-61CAE0BFDB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="0" dirty="0"/>
          </a:p>
        </p:txBody>
      </p:sp>
    </p:spTree>
    <p:extLst>
      <p:ext uri="{BB962C8B-B14F-4D97-AF65-F5344CB8AC3E}">
        <p14:creationId xmlns:p14="http://schemas.microsoft.com/office/powerpoint/2010/main" val="6846669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7">
          <a:extLst>
            <a:ext uri="{FF2B5EF4-FFF2-40B4-BE49-F238E27FC236}">
              <a16:creationId xmlns:a16="http://schemas.microsoft.com/office/drawing/2014/main" id="{DCE2E0F9-E426-39BF-35C5-889D7A08B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86fa6133bc_4_126:notes">
            <a:extLst>
              <a:ext uri="{FF2B5EF4-FFF2-40B4-BE49-F238E27FC236}">
                <a16:creationId xmlns:a16="http://schemas.microsoft.com/office/drawing/2014/main" id="{5E2E36FF-F932-196E-1F28-09F8A3EC1E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86fa6133bc_4_126:notes">
            <a:extLst>
              <a:ext uri="{FF2B5EF4-FFF2-40B4-BE49-F238E27FC236}">
                <a16:creationId xmlns:a16="http://schemas.microsoft.com/office/drawing/2014/main" id="{96730F85-05D2-DE97-C8FD-BAD4B6DAFA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="0" dirty="0"/>
          </a:p>
        </p:txBody>
      </p:sp>
    </p:spTree>
    <p:extLst>
      <p:ext uri="{BB962C8B-B14F-4D97-AF65-F5344CB8AC3E}">
        <p14:creationId xmlns:p14="http://schemas.microsoft.com/office/powerpoint/2010/main" val="17177922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7">
          <a:extLst>
            <a:ext uri="{FF2B5EF4-FFF2-40B4-BE49-F238E27FC236}">
              <a16:creationId xmlns:a16="http://schemas.microsoft.com/office/drawing/2014/main" id="{B15DF89E-FE1A-7F92-F937-7A31E1EFE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86fa6133bc_4_126:notes">
            <a:extLst>
              <a:ext uri="{FF2B5EF4-FFF2-40B4-BE49-F238E27FC236}">
                <a16:creationId xmlns:a16="http://schemas.microsoft.com/office/drawing/2014/main" id="{42AEFAB1-AB91-B966-CCE3-4416801597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86fa6133bc_4_126:notes">
            <a:extLst>
              <a:ext uri="{FF2B5EF4-FFF2-40B4-BE49-F238E27FC236}">
                <a16:creationId xmlns:a16="http://schemas.microsoft.com/office/drawing/2014/main" id="{FB7AF59E-8BFF-B6F0-BD09-81F40F254A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="0" dirty="0"/>
          </a:p>
        </p:txBody>
      </p:sp>
    </p:spTree>
    <p:extLst>
      <p:ext uri="{BB962C8B-B14F-4D97-AF65-F5344CB8AC3E}">
        <p14:creationId xmlns:p14="http://schemas.microsoft.com/office/powerpoint/2010/main" val="14938707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7">
          <a:extLst>
            <a:ext uri="{FF2B5EF4-FFF2-40B4-BE49-F238E27FC236}">
              <a16:creationId xmlns:a16="http://schemas.microsoft.com/office/drawing/2014/main" id="{3716C1F0-7EC4-597A-6408-EC445EEC2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86fa6133bc_4_126:notes">
            <a:extLst>
              <a:ext uri="{FF2B5EF4-FFF2-40B4-BE49-F238E27FC236}">
                <a16:creationId xmlns:a16="http://schemas.microsoft.com/office/drawing/2014/main" id="{4356014B-DCD3-B02D-4EE6-3F9D73D512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86fa6133bc_4_126:notes">
            <a:extLst>
              <a:ext uri="{FF2B5EF4-FFF2-40B4-BE49-F238E27FC236}">
                <a16:creationId xmlns:a16="http://schemas.microsoft.com/office/drawing/2014/main" id="{06D262BC-F0CB-FEC0-F6BA-3458E75522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="0" dirty="0"/>
          </a:p>
        </p:txBody>
      </p:sp>
    </p:spTree>
    <p:extLst>
      <p:ext uri="{BB962C8B-B14F-4D97-AF65-F5344CB8AC3E}">
        <p14:creationId xmlns:p14="http://schemas.microsoft.com/office/powerpoint/2010/main" val="40846308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7">
          <a:extLst>
            <a:ext uri="{FF2B5EF4-FFF2-40B4-BE49-F238E27FC236}">
              <a16:creationId xmlns:a16="http://schemas.microsoft.com/office/drawing/2014/main" id="{8704FB29-8416-B7F7-8AFF-66C244D83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86fa6133bc_4_126:notes">
            <a:extLst>
              <a:ext uri="{FF2B5EF4-FFF2-40B4-BE49-F238E27FC236}">
                <a16:creationId xmlns:a16="http://schemas.microsoft.com/office/drawing/2014/main" id="{E43E70D8-8BCC-AE88-F76F-EA284D26E5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86fa6133bc_4_126:notes">
            <a:extLst>
              <a:ext uri="{FF2B5EF4-FFF2-40B4-BE49-F238E27FC236}">
                <a16:creationId xmlns:a16="http://schemas.microsoft.com/office/drawing/2014/main" id="{B27C88E4-06E4-9BE3-D52F-0F97B4EA97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="0" dirty="0"/>
          </a:p>
        </p:txBody>
      </p:sp>
    </p:spTree>
    <p:extLst>
      <p:ext uri="{BB962C8B-B14F-4D97-AF65-F5344CB8AC3E}">
        <p14:creationId xmlns:p14="http://schemas.microsoft.com/office/powerpoint/2010/main" val="19446209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7">
          <a:extLst>
            <a:ext uri="{FF2B5EF4-FFF2-40B4-BE49-F238E27FC236}">
              <a16:creationId xmlns:a16="http://schemas.microsoft.com/office/drawing/2014/main" id="{FCA04A88-60F1-7822-3D3A-44B552629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86fa6133bc_4_126:notes">
            <a:extLst>
              <a:ext uri="{FF2B5EF4-FFF2-40B4-BE49-F238E27FC236}">
                <a16:creationId xmlns:a16="http://schemas.microsoft.com/office/drawing/2014/main" id="{292CC7C7-1653-E530-1CAE-69B557E3BF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86fa6133bc_4_126:notes">
            <a:extLst>
              <a:ext uri="{FF2B5EF4-FFF2-40B4-BE49-F238E27FC236}">
                <a16:creationId xmlns:a16="http://schemas.microsoft.com/office/drawing/2014/main" id="{BFC2872E-BE1D-E5A9-EAEF-0FC5AF6E38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="0" dirty="0"/>
          </a:p>
        </p:txBody>
      </p:sp>
    </p:spTree>
    <p:extLst>
      <p:ext uri="{BB962C8B-B14F-4D97-AF65-F5344CB8AC3E}">
        <p14:creationId xmlns:p14="http://schemas.microsoft.com/office/powerpoint/2010/main" val="8543987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7">
          <a:extLst>
            <a:ext uri="{FF2B5EF4-FFF2-40B4-BE49-F238E27FC236}">
              <a16:creationId xmlns:a16="http://schemas.microsoft.com/office/drawing/2014/main" id="{3F6C987A-98CF-A0C1-47D7-9875DAE93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86fa6133bc_4_126:notes">
            <a:extLst>
              <a:ext uri="{FF2B5EF4-FFF2-40B4-BE49-F238E27FC236}">
                <a16:creationId xmlns:a16="http://schemas.microsoft.com/office/drawing/2014/main" id="{86B83FE5-4083-8D56-644B-D381430FFB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86fa6133bc_4_126:notes">
            <a:extLst>
              <a:ext uri="{FF2B5EF4-FFF2-40B4-BE49-F238E27FC236}">
                <a16:creationId xmlns:a16="http://schemas.microsoft.com/office/drawing/2014/main" id="{BC232719-86DF-ADDE-A622-1A2A5501D3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="0" dirty="0"/>
          </a:p>
        </p:txBody>
      </p:sp>
    </p:spTree>
    <p:extLst>
      <p:ext uri="{BB962C8B-B14F-4D97-AF65-F5344CB8AC3E}">
        <p14:creationId xmlns:p14="http://schemas.microsoft.com/office/powerpoint/2010/main" val="14366669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7">
          <a:extLst>
            <a:ext uri="{FF2B5EF4-FFF2-40B4-BE49-F238E27FC236}">
              <a16:creationId xmlns:a16="http://schemas.microsoft.com/office/drawing/2014/main" id="{F53D6C26-3C01-AF96-9B1E-FA8BE9D26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86fa6133bc_4_126:notes">
            <a:extLst>
              <a:ext uri="{FF2B5EF4-FFF2-40B4-BE49-F238E27FC236}">
                <a16:creationId xmlns:a16="http://schemas.microsoft.com/office/drawing/2014/main" id="{471AC846-E594-016B-34D1-833F491418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86fa6133bc_4_126:notes">
            <a:extLst>
              <a:ext uri="{FF2B5EF4-FFF2-40B4-BE49-F238E27FC236}">
                <a16:creationId xmlns:a16="http://schemas.microsoft.com/office/drawing/2014/main" id="{27223C2D-6003-BF37-5141-719EF0F3D0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="0" dirty="0"/>
          </a:p>
        </p:txBody>
      </p:sp>
    </p:spTree>
    <p:extLst>
      <p:ext uri="{BB962C8B-B14F-4D97-AF65-F5344CB8AC3E}">
        <p14:creationId xmlns:p14="http://schemas.microsoft.com/office/powerpoint/2010/main" val="22375103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7">
          <a:extLst>
            <a:ext uri="{FF2B5EF4-FFF2-40B4-BE49-F238E27FC236}">
              <a16:creationId xmlns:a16="http://schemas.microsoft.com/office/drawing/2014/main" id="{36ED94D3-F64D-630F-E18A-77F54213E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86fa6133bc_4_126:notes">
            <a:extLst>
              <a:ext uri="{FF2B5EF4-FFF2-40B4-BE49-F238E27FC236}">
                <a16:creationId xmlns:a16="http://schemas.microsoft.com/office/drawing/2014/main" id="{73653CA4-8E8A-93D1-A5A7-C4BB0E8103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86fa6133bc_4_126:notes">
            <a:extLst>
              <a:ext uri="{FF2B5EF4-FFF2-40B4-BE49-F238E27FC236}">
                <a16:creationId xmlns:a16="http://schemas.microsoft.com/office/drawing/2014/main" id="{44872887-3CA0-E1A3-6BBB-DDD3F535BC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="0" dirty="0"/>
          </a:p>
        </p:txBody>
      </p:sp>
    </p:spTree>
    <p:extLst>
      <p:ext uri="{BB962C8B-B14F-4D97-AF65-F5344CB8AC3E}">
        <p14:creationId xmlns:p14="http://schemas.microsoft.com/office/powerpoint/2010/main" val="6295712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86fa6133bc_4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86fa6133bc_4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64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746D22-117A-4C9A-AFBC-E8FD720CB2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936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778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C41625A-8867-48DC-8716-C12A5874B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468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C41625A-8867-48DC-8716-C12A5874B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210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122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C41625A-8867-48DC-8716-C12A5874B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932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C41625A-8867-48DC-8716-C12A5874B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518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C41625A-8867-48DC-8716-C12A5874B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1305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C41625A-8867-48DC-8716-C12A5874B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479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C41625A-8867-48DC-8716-C12A5874B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862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35000"/>
            <a:lum/>
          </a:blip>
          <a:srcRect/>
          <a:tile tx="0" ty="0" sx="50000" sy="5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타원 12">
            <a:extLst>
              <a:ext uri="{FF2B5EF4-FFF2-40B4-BE49-F238E27FC236}">
                <a16:creationId xmlns:a16="http://schemas.microsoft.com/office/drawing/2014/main" id="{575A7594-1C3D-7083-E629-5F7E31E1C2DE}"/>
              </a:ext>
            </a:extLst>
          </p:cNvPr>
          <p:cNvSpPr/>
          <p:nvPr userDrawn="1"/>
        </p:nvSpPr>
        <p:spPr>
          <a:xfrm>
            <a:off x="210009" y="420502"/>
            <a:ext cx="252000" cy="25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A365421-AC40-73E0-F460-4806E82F5606}"/>
              </a:ext>
            </a:extLst>
          </p:cNvPr>
          <p:cNvSpPr/>
          <p:nvPr userDrawn="1"/>
        </p:nvSpPr>
        <p:spPr>
          <a:xfrm>
            <a:off x="11738783" y="420502"/>
            <a:ext cx="252000" cy="25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E0E20C81-F6C6-6E72-33A4-64A97744DB03}"/>
              </a:ext>
            </a:extLst>
          </p:cNvPr>
          <p:cNvSpPr/>
          <p:nvPr userDrawn="1"/>
        </p:nvSpPr>
        <p:spPr>
          <a:xfrm>
            <a:off x="11738783" y="6414099"/>
            <a:ext cx="252000" cy="25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962D9E-3BC9-B5E6-57AC-5AB012DD6DA5}"/>
              </a:ext>
            </a:extLst>
          </p:cNvPr>
          <p:cNvSpPr txBox="1"/>
          <p:nvPr userDrawn="1"/>
        </p:nvSpPr>
        <p:spPr>
          <a:xfrm>
            <a:off x="462009" y="6401599"/>
            <a:ext cx="16033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옛날사진관3" panose="02020600000000000000" pitchFamily="18" charset="-127"/>
                <a:ea typeface="a옛날사진관3" panose="02020600000000000000" pitchFamily="18" charset="-127"/>
              </a:rPr>
              <a:t>신한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옛날사진관3" panose="02020600000000000000" pitchFamily="18" charset="-127"/>
                <a:ea typeface="a옛날사진관3" panose="02020600000000000000" pitchFamily="18" charset="-127"/>
              </a:rPr>
              <a:t>DS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옛날사진관3" panose="02020600000000000000" pitchFamily="18" charset="-127"/>
                <a:ea typeface="a옛날사진관3" panose="02020600000000000000" pitchFamily="18" charset="-127"/>
              </a:rPr>
              <a:t>아카데미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옛날사진관3" panose="02020600000000000000" pitchFamily="18" charset="-127"/>
                <a:ea typeface="a옛날사진관3" panose="02020600000000000000" pitchFamily="18" charset="-127"/>
              </a:rPr>
              <a:t>7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옛날사진관3" panose="02020600000000000000" pitchFamily="18" charset="-127"/>
                <a:ea typeface="a옛날사진관3" panose="02020600000000000000" pitchFamily="18" charset="-127"/>
              </a:rPr>
              <a:t>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08F497-D2A0-7C46-04DD-C97632624034}"/>
              </a:ext>
            </a:extLst>
          </p:cNvPr>
          <p:cNvSpPr txBox="1"/>
          <p:nvPr userDrawn="1"/>
        </p:nvSpPr>
        <p:spPr>
          <a:xfrm>
            <a:off x="10145077" y="232841"/>
            <a:ext cx="15937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a옛날사진관3" panose="02020600000000000000" pitchFamily="18" charset="-127"/>
                <a:ea typeface="a옛날사진관3" panose="02020600000000000000" pitchFamily="18" charset="-127"/>
              </a:rPr>
              <a:t>부루마블 시뮬레이터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EE25915-A679-1372-C835-B06D17A21D51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202659" y="6423643"/>
            <a:ext cx="266700" cy="266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9F0B49-E1DD-4626-5DD5-1493572BF57D}"/>
              </a:ext>
            </a:extLst>
          </p:cNvPr>
          <p:cNvSpPr txBox="1"/>
          <p:nvPr userDrawn="1"/>
        </p:nvSpPr>
        <p:spPr>
          <a:xfrm>
            <a:off x="10853692" y="6401599"/>
            <a:ext cx="1090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FA173BF-9639-48AA-B2D0-19C4269DDE37}" type="slidenum">
              <a:rPr lang="en-US" altLang="ko-KR" sz="1200" smtClean="0">
                <a:solidFill>
                  <a:schemeClr val="bg2">
                    <a:lumMod val="50000"/>
                  </a:schemeClr>
                </a:solidFill>
                <a:latin typeface="a옛날사진관3" panose="02020600000000000000" pitchFamily="18" charset="-127"/>
                <a:ea typeface="a옛날사진관3" panose="02020600000000000000" pitchFamily="18" charset="-127"/>
              </a:rPr>
              <a:t>‹#›</a:t>
            </a:fld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a옛날사진관3" panose="02020600000000000000" pitchFamily="18" charset="-127"/>
                <a:ea typeface="a옛날사진관3" panose="02020600000000000000" pitchFamily="18" charset="-127"/>
              </a:rPr>
              <a:t>/19</a:t>
            </a:r>
            <a:endParaRPr lang="ko-KR" altLang="en-US" sz="1200" dirty="0">
              <a:solidFill>
                <a:schemeClr val="bg2">
                  <a:lumMod val="50000"/>
                </a:schemeClr>
              </a:solidFill>
              <a:latin typeface="a옛날사진관3" panose="02020600000000000000" pitchFamily="18" charset="-127"/>
              <a:ea typeface="a옛날사진관3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8533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5" Type="http://schemas.openxmlformats.org/officeDocument/2006/relationships/image" Target="../media/image30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C95ADF-A8AF-52E8-8720-F6984143194C}"/>
              </a:ext>
            </a:extLst>
          </p:cNvPr>
          <p:cNvSpPr txBox="1"/>
          <p:nvPr/>
        </p:nvSpPr>
        <p:spPr>
          <a:xfrm>
            <a:off x="804826" y="1811904"/>
            <a:ext cx="725301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Java</a:t>
            </a:r>
            <a:r>
              <a:rPr lang="ko-KR" altLang="en-US" sz="3200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와 </a:t>
            </a:r>
            <a:r>
              <a:rPr lang="en-US" altLang="ko-KR" sz="3200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Oracle DB</a:t>
            </a:r>
            <a:r>
              <a:rPr lang="ko-KR" altLang="en-US" sz="3200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를 활용한 콘솔 기반 </a:t>
            </a:r>
            <a:endParaRPr lang="en-US" altLang="ko-KR" sz="3200" dirty="0">
              <a:latin typeface="a옛날사진관4" panose="02020600000000000000" pitchFamily="18" charset="-127"/>
              <a:ea typeface="a옛날사진관4" panose="02020600000000000000" pitchFamily="18" charset="-127"/>
            </a:endParaRPr>
          </a:p>
          <a:p>
            <a:pPr algn="ctr"/>
            <a:r>
              <a:rPr lang="ko-KR" altLang="en-US" sz="3200" dirty="0" err="1">
                <a:latin typeface="a옛날사진관4" panose="02020600000000000000" pitchFamily="18" charset="-127"/>
                <a:ea typeface="a옛날사진관4" panose="02020600000000000000" pitchFamily="18" charset="-127"/>
              </a:rPr>
              <a:t>부루마블</a:t>
            </a:r>
            <a:r>
              <a:rPr lang="ko-KR" altLang="en-US" sz="3200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 게임 시스템 구현</a:t>
            </a:r>
          </a:p>
        </p:txBody>
      </p:sp>
      <p:pic>
        <p:nvPicPr>
          <p:cNvPr id="5" name="그림 4" descr="성공異야기]부루마블..보드게임 불모지서 황금을 캐다">
            <a:extLst>
              <a:ext uri="{FF2B5EF4-FFF2-40B4-BE49-F238E27FC236}">
                <a16:creationId xmlns:a16="http://schemas.microsoft.com/office/drawing/2014/main" id="{FE3E6539-1127-2EEE-FC67-016B8F98A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5668" y="1477632"/>
            <a:ext cx="2124075" cy="2152650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444296C8-2494-47FE-866C-25E93D875E2C}"/>
              </a:ext>
            </a:extLst>
          </p:cNvPr>
          <p:cNvGrpSpPr/>
          <p:nvPr/>
        </p:nvGrpSpPr>
        <p:grpSpPr>
          <a:xfrm>
            <a:off x="804826" y="4060224"/>
            <a:ext cx="8514215" cy="661719"/>
            <a:chOff x="738786" y="3679224"/>
            <a:chExt cx="8514215" cy="661719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2DF94C97-8014-377C-928B-E864FA768616}"/>
                </a:ext>
              </a:extLst>
            </p:cNvPr>
            <p:cNvGrpSpPr/>
            <p:nvPr/>
          </p:nvGrpSpPr>
          <p:grpSpPr>
            <a:xfrm>
              <a:off x="738786" y="3679224"/>
              <a:ext cx="8514215" cy="646331"/>
              <a:chOff x="738786" y="3679224"/>
              <a:chExt cx="8514215" cy="646331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A6B34F-2877-8CD8-6634-E228B8A0A580}"/>
                  </a:ext>
                </a:extLst>
              </p:cNvPr>
              <p:cNvSpPr txBox="1"/>
              <p:nvPr/>
            </p:nvSpPr>
            <p:spPr>
              <a:xfrm>
                <a:off x="738786" y="4017778"/>
                <a:ext cx="851421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>
                    <a:solidFill>
                      <a:schemeClr val="bg2">
                        <a:lumMod val="50000"/>
                      </a:schemeClr>
                    </a:solidFill>
                    <a:latin typeface="a옛날사진관3" panose="02020600000000000000" pitchFamily="18" charset="-127"/>
                    <a:ea typeface="a옛날사진관3" panose="02020600000000000000" pitchFamily="18" charset="-127"/>
                  </a:rPr>
                  <a:t>강현준                         </a:t>
                </a:r>
                <a:r>
                  <a:rPr lang="en-US" altLang="ko-KR" sz="1400" dirty="0">
                    <a:solidFill>
                      <a:schemeClr val="bg2">
                        <a:lumMod val="50000"/>
                      </a:schemeClr>
                    </a:solidFill>
                    <a:latin typeface="a옛날사진관3" panose="02020600000000000000" pitchFamily="18" charset="-127"/>
                    <a:ea typeface="a옛날사진관3" panose="02020600000000000000" pitchFamily="18" charset="-127"/>
                  </a:rPr>
                  <a:t>Oracle DB , Java                2026.06.15~2026.06.17</a:t>
                </a:r>
                <a:endParaRPr lang="ko-KR" altLang="en-US" dirty="0">
                  <a:solidFill>
                    <a:schemeClr val="bg2">
                      <a:lumMod val="50000"/>
                    </a:schemeClr>
                  </a:solidFill>
                  <a:latin typeface="a옛날사진관3" panose="02020600000000000000" pitchFamily="18" charset="-127"/>
                  <a:ea typeface="a옛날사진관3" panose="02020600000000000000" pitchFamily="18" charset="-127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AC800F-BD90-75E2-48C4-E9284EC5125B}"/>
                  </a:ext>
                </a:extLst>
              </p:cNvPr>
              <p:cNvSpPr txBox="1"/>
              <p:nvPr/>
            </p:nvSpPr>
            <p:spPr>
              <a:xfrm>
                <a:off x="744470" y="3679224"/>
                <a:ext cx="495943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bg2">
                        <a:lumMod val="50000"/>
                      </a:schemeClr>
                    </a:solidFill>
                    <a:latin typeface="a옛날사진관3" panose="02020600000000000000" pitchFamily="18" charset="-127"/>
                    <a:ea typeface="a옛날사진관3" panose="02020600000000000000" pitchFamily="18" charset="-127"/>
                  </a:rPr>
                  <a:t>Developer</a:t>
                </a:r>
                <a:r>
                  <a:rPr lang="en-US" altLang="ko-KR" sz="1600" dirty="0">
                    <a:solidFill>
                      <a:schemeClr val="bg2">
                        <a:lumMod val="50000"/>
                      </a:schemeClr>
                    </a:solidFill>
                    <a:latin typeface="a옛날사진관3" panose="02020600000000000000" pitchFamily="18" charset="-127"/>
                    <a:ea typeface="a옛날사진관3" panose="02020600000000000000" pitchFamily="18" charset="-127"/>
                  </a:rPr>
                  <a:t>                  </a:t>
                </a:r>
                <a:r>
                  <a:rPr lang="en-US" altLang="ko-KR" sz="1200" dirty="0">
                    <a:solidFill>
                      <a:schemeClr val="bg2">
                        <a:lumMod val="50000"/>
                      </a:schemeClr>
                    </a:solidFill>
                    <a:latin typeface="a옛날사진관3" panose="02020600000000000000" pitchFamily="18" charset="-127"/>
                    <a:ea typeface="a옛날사진관3" panose="02020600000000000000" pitchFamily="18" charset="-127"/>
                  </a:rPr>
                  <a:t>TECH STACK                             PERIOD</a:t>
                </a:r>
                <a:endParaRPr lang="ko-KR" altLang="en-US" sz="2000" dirty="0">
                  <a:solidFill>
                    <a:schemeClr val="bg2">
                      <a:lumMod val="50000"/>
                    </a:schemeClr>
                  </a:solidFill>
                  <a:latin typeface="a옛날사진관3" panose="02020600000000000000" pitchFamily="18" charset="-127"/>
                  <a:ea typeface="a옛날사진관3" panose="02020600000000000000" pitchFamily="18" charset="-127"/>
                </a:endParaRPr>
              </a:p>
            </p:txBody>
          </p:sp>
        </p:grp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9C12681-96D2-E71F-62D6-06CC9475167C}"/>
                </a:ext>
              </a:extLst>
            </p:cNvPr>
            <p:cNvCxnSpPr/>
            <p:nvPr/>
          </p:nvCxnSpPr>
          <p:spPr>
            <a:xfrm>
              <a:off x="2301140" y="3685280"/>
              <a:ext cx="0" cy="646331"/>
            </a:xfrm>
            <a:prstGeom prst="line">
              <a:avLst/>
            </a:prstGeom>
            <a:ln>
              <a:solidFill>
                <a:srgbClr val="000000">
                  <a:alpha val="16078"/>
                </a:srgb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B5FA89C5-EEB3-8414-0018-FDA68CE02A34}"/>
                </a:ext>
              </a:extLst>
            </p:cNvPr>
            <p:cNvCxnSpPr/>
            <p:nvPr/>
          </p:nvCxnSpPr>
          <p:spPr>
            <a:xfrm>
              <a:off x="4960569" y="3694612"/>
              <a:ext cx="0" cy="646331"/>
            </a:xfrm>
            <a:prstGeom prst="line">
              <a:avLst/>
            </a:prstGeom>
            <a:ln>
              <a:solidFill>
                <a:srgbClr val="000000">
                  <a:alpha val="16078"/>
                </a:srgb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43894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BE040B-48D5-803A-8FDC-9194665B9EDD}"/>
              </a:ext>
            </a:extLst>
          </p:cNvPr>
          <p:cNvSpPr txBox="1"/>
          <p:nvPr/>
        </p:nvSpPr>
        <p:spPr>
          <a:xfrm>
            <a:off x="514221" y="308042"/>
            <a:ext cx="7681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목차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3C835B4-3B5F-4981-D2F2-A778252D3B2E}"/>
              </a:ext>
            </a:extLst>
          </p:cNvPr>
          <p:cNvCxnSpPr>
            <a:cxnSpLocks/>
          </p:cNvCxnSpPr>
          <p:nvPr/>
        </p:nvCxnSpPr>
        <p:spPr>
          <a:xfrm>
            <a:off x="1282380" y="538651"/>
            <a:ext cx="10306191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7C5B6B9-8219-AF28-A34F-A88087F1CBC1}"/>
              </a:ext>
            </a:extLst>
          </p:cNvPr>
          <p:cNvCxnSpPr>
            <a:cxnSpLocks/>
          </p:cNvCxnSpPr>
          <p:nvPr/>
        </p:nvCxnSpPr>
        <p:spPr>
          <a:xfrm>
            <a:off x="2059912" y="6548890"/>
            <a:ext cx="87253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F41C254-654A-F017-4D8B-82726F0AE46A}"/>
              </a:ext>
            </a:extLst>
          </p:cNvPr>
          <p:cNvSpPr txBox="1"/>
          <p:nvPr/>
        </p:nvSpPr>
        <p:spPr>
          <a:xfrm>
            <a:off x="514221" y="852910"/>
            <a:ext cx="3106941" cy="36748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ko-KR" altLang="en-US" sz="2400">
                <a:latin typeface="a옛날사진관3" panose="02020600000000000000" pitchFamily="18" charset="-127"/>
                <a:ea typeface="a옛날사진관3" panose="02020600000000000000" pitchFamily="18" charset="-127"/>
              </a:rPr>
              <a:t>프로젝트 개요</a:t>
            </a:r>
            <a:endParaRPr lang="en-US" altLang="ko-KR" sz="2400">
              <a:latin typeface="a옛날사진관3" panose="02020600000000000000" pitchFamily="18" charset="-127"/>
              <a:ea typeface="a옛날사진관3" panose="02020600000000000000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400">
                <a:latin typeface="a옛날사진관3" panose="02020600000000000000" pitchFamily="18" charset="-127"/>
                <a:ea typeface="a옛날사진관3" panose="02020600000000000000" pitchFamily="18" charset="-127"/>
              </a:rPr>
              <a:t>2. </a:t>
            </a:r>
            <a:r>
              <a:rPr lang="ko-KR" altLang="en-US" sz="2400">
                <a:latin typeface="a옛날사진관3" panose="02020600000000000000" pitchFamily="18" charset="-127"/>
                <a:ea typeface="a옛날사진관3" panose="02020600000000000000" pitchFamily="18" charset="-127"/>
              </a:rPr>
              <a:t>시스템 기능 흐름도</a:t>
            </a:r>
            <a:endParaRPr lang="en-US" altLang="ko-KR" sz="2400">
              <a:latin typeface="a옛날사진관3" panose="02020600000000000000" pitchFamily="18" charset="-127"/>
              <a:ea typeface="a옛날사진관3" panose="02020600000000000000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400">
                <a:latin typeface="a옛날사진관3" panose="02020600000000000000" pitchFamily="18" charset="-127"/>
                <a:ea typeface="a옛날사진관3" panose="02020600000000000000" pitchFamily="18" charset="-127"/>
              </a:rPr>
              <a:t>3. ERD</a:t>
            </a:r>
          </a:p>
          <a:p>
            <a:pPr>
              <a:lnSpc>
                <a:spcPct val="200000"/>
              </a:lnSpc>
            </a:pPr>
            <a:r>
              <a:rPr lang="en-US" altLang="ko-KR" sz="2400">
                <a:latin typeface="a옛날사진관3" panose="02020600000000000000" pitchFamily="18" charset="-127"/>
                <a:ea typeface="a옛날사진관3" panose="02020600000000000000" pitchFamily="18" charset="-127"/>
              </a:rPr>
              <a:t>4. </a:t>
            </a:r>
            <a:r>
              <a:rPr lang="ko-KR" altLang="en-US" sz="2400">
                <a:latin typeface="a옛날사진관3" panose="02020600000000000000" pitchFamily="18" charset="-127"/>
                <a:ea typeface="a옛날사진관3" panose="02020600000000000000" pitchFamily="18" charset="-127"/>
              </a:rPr>
              <a:t>주요 기능 시연</a:t>
            </a:r>
            <a:endParaRPr lang="en-US" altLang="ko-KR" sz="2400">
              <a:latin typeface="a옛날사진관3" panose="02020600000000000000" pitchFamily="18" charset="-127"/>
              <a:ea typeface="a옛날사진관3" panose="02020600000000000000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400">
                <a:latin typeface="a옛날사진관3" panose="02020600000000000000" pitchFamily="18" charset="-127"/>
                <a:ea typeface="a옛날사진관3" panose="02020600000000000000" pitchFamily="18" charset="-127"/>
              </a:rPr>
              <a:t>5. </a:t>
            </a:r>
            <a:r>
              <a:rPr lang="ko-KR" altLang="en-US" sz="2400">
                <a:latin typeface="a옛날사진관3" panose="02020600000000000000" pitchFamily="18" charset="-127"/>
                <a:ea typeface="a옛날사진관3" panose="02020600000000000000" pitchFamily="18" charset="-127"/>
              </a:rPr>
              <a:t>프로젝트 요약</a:t>
            </a:r>
            <a:endParaRPr lang="en-US" altLang="ko-KR" sz="2400">
              <a:latin typeface="a옛날사진관3" panose="02020600000000000000" pitchFamily="18" charset="-127"/>
              <a:ea typeface="a옛날사진관3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8209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0">
          <a:extLst>
            <a:ext uri="{FF2B5EF4-FFF2-40B4-BE49-F238E27FC236}">
              <a16:creationId xmlns:a16="http://schemas.microsoft.com/office/drawing/2014/main" id="{403BE37B-90D6-6C33-A7C1-A095E7E30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39A9CE21-B885-5093-E937-49D3D6EC7363}"/>
              </a:ext>
            </a:extLst>
          </p:cNvPr>
          <p:cNvSpPr txBox="1"/>
          <p:nvPr/>
        </p:nvSpPr>
        <p:spPr>
          <a:xfrm>
            <a:off x="467956" y="307818"/>
            <a:ext cx="2369683" cy="461665"/>
          </a:xfrm>
          <a:prstGeom prst="rect">
            <a:avLst/>
          </a:prstGeom>
          <a:noFill/>
        </p:spPr>
        <p:txBody>
          <a:bodyPr wrap="none" rIns="36000" rtlCol="0">
            <a:spAutoFit/>
          </a:bodyPr>
          <a:lstStyle/>
          <a:p>
            <a:r>
              <a:rPr lang="en-US" altLang="ko-KR" sz="24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1. </a:t>
            </a:r>
            <a:r>
              <a:rPr lang="ko-KR" altLang="en-US" sz="24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프로젝트 개요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8E46F0C0-B4AE-9BF4-C44D-1B0F68D9991C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2837639" y="538651"/>
            <a:ext cx="8750932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DAE6146-880E-E7C4-3A1D-6F2838B90E26}"/>
              </a:ext>
            </a:extLst>
          </p:cNvPr>
          <p:cNvSpPr txBox="1"/>
          <p:nvPr/>
        </p:nvSpPr>
        <p:spPr>
          <a:xfrm>
            <a:off x="467956" y="3991653"/>
            <a:ext cx="108362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/>
              <a:t> </a:t>
            </a:r>
            <a:r>
              <a:rPr lang="ko-KR" altLang="ko-KR"/>
              <a:t>JDBC를 활용한 Java-OracleDB 연동과 CRUD 시스템 구현</a:t>
            </a:r>
            <a:endParaRPr lang="en-US" altLang="ko-KR"/>
          </a:p>
          <a:p>
            <a:pPr>
              <a:buFont typeface="Arial" panose="020B0604020202020204" pitchFamily="34" charset="0"/>
              <a:buChar char="•"/>
            </a:pPr>
            <a:endParaRPr lang="en-US" altLang="ko-KR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/>
              <a:t> </a:t>
            </a:r>
            <a:r>
              <a:rPr lang="ko-KR" altLang="ko-KR"/>
              <a:t>복잡한 게임 시스템을 MVC 구조와 인터페이스 기반 설계로 분리하여</a:t>
            </a:r>
            <a:br>
              <a:rPr lang="ko-KR" altLang="ko-KR"/>
            </a:br>
            <a:r>
              <a:rPr lang="en-US" altLang="ko-KR"/>
              <a:t>  </a:t>
            </a:r>
            <a:r>
              <a:rPr lang="ko-KR" altLang="ko-KR"/>
              <a:t>유지보수성과 확장성을 고려한 프로그램 구조 이해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373289-9268-7531-13AE-F3489C4CF880}"/>
              </a:ext>
            </a:extLst>
          </p:cNvPr>
          <p:cNvSpPr txBox="1"/>
          <p:nvPr/>
        </p:nvSpPr>
        <p:spPr>
          <a:xfrm>
            <a:off x="467956" y="856784"/>
            <a:ext cx="2217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a옛날사진관3" panose="02020600000000000000" pitchFamily="18" charset="-127"/>
                <a:ea typeface="a옛날사진관3" panose="02020600000000000000"/>
              </a:rPr>
              <a:t>개발 배경 및 목적</a:t>
            </a:r>
          </a:p>
        </p:txBody>
      </p:sp>
      <p:pic>
        <p:nvPicPr>
          <p:cNvPr id="14" name="그림 13" descr="부루마불 - WING Board Game">
            <a:extLst>
              <a:ext uri="{FF2B5EF4-FFF2-40B4-BE49-F238E27FC236}">
                <a16:creationId xmlns:a16="http://schemas.microsoft.com/office/drawing/2014/main" id="{098B4843-E412-2B73-F117-2BA928E4B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64" y="1395394"/>
            <a:ext cx="2200275" cy="2076450"/>
          </a:xfrm>
          <a:prstGeom prst="rect">
            <a:avLst/>
          </a:prstGeom>
        </p:spPr>
      </p:pic>
      <p:pic>
        <p:nvPicPr>
          <p:cNvPr id="15" name="그림 14" descr="Oracle DB] 윈도우 10 오라클 11G 설치하기">
            <a:extLst>
              <a:ext uri="{FF2B5EF4-FFF2-40B4-BE49-F238E27FC236}">
                <a16:creationId xmlns:a16="http://schemas.microsoft.com/office/drawing/2014/main" id="{18D2111D-CEC2-9311-2BC4-53913C060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366716"/>
            <a:ext cx="2027705" cy="2027705"/>
          </a:xfrm>
          <a:prstGeom prst="rect">
            <a:avLst/>
          </a:prstGeom>
        </p:spPr>
      </p:pic>
      <p:pic>
        <p:nvPicPr>
          <p:cNvPr id="18" name="그림 17" descr="자바 Java | 플랫폼 독립성의 중요성과 대표적인 언어/기술들의 구현 방식">
            <a:extLst>
              <a:ext uri="{FF2B5EF4-FFF2-40B4-BE49-F238E27FC236}">
                <a16:creationId xmlns:a16="http://schemas.microsoft.com/office/drawing/2014/main" id="{0FA90F27-F99A-BD20-A1E6-CC421FA0DA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3847" y="1708496"/>
            <a:ext cx="2705100" cy="168592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F209F4C-19BA-3E0A-5E69-6D55B64029AD}"/>
              </a:ext>
            </a:extLst>
          </p:cNvPr>
          <p:cNvSpPr txBox="1"/>
          <p:nvPr/>
        </p:nvSpPr>
        <p:spPr>
          <a:xfrm>
            <a:off x="968701" y="3460738"/>
            <a:ext cx="15376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latin typeface="+mn-ea"/>
              </a:rPr>
              <a:t>부루마블 보드게임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456827-34D0-6A27-AFEE-42119D87D6F7}"/>
              </a:ext>
            </a:extLst>
          </p:cNvPr>
          <p:cNvSpPr txBox="1"/>
          <p:nvPr/>
        </p:nvSpPr>
        <p:spPr>
          <a:xfrm>
            <a:off x="6643057" y="3379032"/>
            <a:ext cx="9335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latin typeface="+mn-ea"/>
              </a:rPr>
              <a:t>OracleDB</a:t>
            </a:r>
            <a:endParaRPr lang="ko-KR" altLang="en-US" sz="1400">
              <a:latin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B10DA2-F95B-7BC4-1589-F141164A78FD}"/>
              </a:ext>
            </a:extLst>
          </p:cNvPr>
          <p:cNvSpPr txBox="1"/>
          <p:nvPr/>
        </p:nvSpPr>
        <p:spPr>
          <a:xfrm>
            <a:off x="9399602" y="3377566"/>
            <a:ext cx="5939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latin typeface="+mn-ea"/>
              </a:rPr>
              <a:t>JAVA</a:t>
            </a:r>
            <a:endParaRPr lang="ko-KR" altLang="en-US" sz="1400">
              <a:latin typeface="+mn-ea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87A9DE84-3C27-D4B1-0750-9F6DB2D820E9}"/>
              </a:ext>
            </a:extLst>
          </p:cNvPr>
          <p:cNvCxnSpPr>
            <a:cxnSpLocks/>
          </p:cNvCxnSpPr>
          <p:nvPr/>
        </p:nvCxnSpPr>
        <p:spPr>
          <a:xfrm flipV="1">
            <a:off x="2080846" y="6540796"/>
            <a:ext cx="8612683" cy="93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4748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0">
          <a:extLst>
            <a:ext uri="{FF2B5EF4-FFF2-40B4-BE49-F238E27FC236}">
              <a16:creationId xmlns:a16="http://schemas.microsoft.com/office/drawing/2014/main" id="{D6CCDF15-D1E6-E3D9-C7BC-8D8EA7EA4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AFB215-9394-AC4B-0569-9613D9839757}"/>
              </a:ext>
            </a:extLst>
          </p:cNvPr>
          <p:cNvSpPr txBox="1"/>
          <p:nvPr/>
        </p:nvSpPr>
        <p:spPr>
          <a:xfrm>
            <a:off x="467956" y="307818"/>
            <a:ext cx="1125752" cy="461665"/>
          </a:xfrm>
          <a:prstGeom prst="rect">
            <a:avLst/>
          </a:prstGeom>
          <a:noFill/>
        </p:spPr>
        <p:txBody>
          <a:bodyPr wrap="none" rIns="36000" rtlCol="0">
            <a:spAutoFit/>
          </a:bodyPr>
          <a:lstStyle/>
          <a:p>
            <a:r>
              <a:rPr lang="en-US" altLang="ko-KR" sz="24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2. ERD</a:t>
            </a:r>
            <a:endParaRPr lang="ko-KR" altLang="en-US" sz="2400">
              <a:latin typeface="a옛날사진관4" panose="02020600000000000000" pitchFamily="18" charset="-127"/>
              <a:ea typeface="a옛날사진관4" panose="02020600000000000000" pitchFamily="18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DA36570-DF94-E672-8682-381D2122AFC4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593708" y="538651"/>
            <a:ext cx="9994863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F4E6FC9-AABB-0D04-7137-C3EA3810B50F}"/>
              </a:ext>
            </a:extLst>
          </p:cNvPr>
          <p:cNvCxnSpPr>
            <a:cxnSpLocks/>
          </p:cNvCxnSpPr>
          <p:nvPr/>
        </p:nvCxnSpPr>
        <p:spPr>
          <a:xfrm>
            <a:off x="2046514" y="6540796"/>
            <a:ext cx="87175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2FE0E022-026F-8794-FD6B-22C4AF975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56" y="1008410"/>
            <a:ext cx="6229819" cy="45157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4683C4-A192-84E1-DA88-544F64004DBE}"/>
              </a:ext>
            </a:extLst>
          </p:cNvPr>
          <p:cNvSpPr txBox="1"/>
          <p:nvPr/>
        </p:nvSpPr>
        <p:spPr>
          <a:xfrm>
            <a:off x="6868089" y="723819"/>
            <a:ext cx="514103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/>
              <a:t>  USERS : </a:t>
            </a:r>
            <a:r>
              <a:rPr lang="ko-KR" altLang="en-US"/>
              <a:t>플레이어 즉</a:t>
            </a:r>
            <a:r>
              <a:rPr lang="en-US" altLang="ko-KR"/>
              <a:t>, </a:t>
            </a:r>
            <a:r>
              <a:rPr lang="ko-KR" altLang="en-US"/>
              <a:t>게임을 이용하는 </a:t>
            </a:r>
            <a:r>
              <a:rPr lang="en-US" altLang="ko-KR"/>
              <a:t>		  	            </a:t>
            </a:r>
            <a:r>
              <a:rPr lang="ko-KR" altLang="en-US"/>
              <a:t>사용자들에 대한 데이터들을 담는 테이블</a:t>
            </a:r>
            <a:endParaRPr lang="en-US" altLang="ko-KR"/>
          </a:p>
          <a:p>
            <a:pPr>
              <a:buFont typeface="Arial" panose="020B0604020202020204" pitchFamily="34" charset="0"/>
              <a:buChar char="•"/>
            </a:pPr>
            <a:endParaRPr lang="en-US" altLang="ko-KR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/>
              <a:t> </a:t>
            </a:r>
            <a:r>
              <a:rPr lang="en-US" altLang="ko-KR"/>
              <a:t> ITEM : </a:t>
            </a:r>
            <a:r>
              <a:rPr lang="ko-KR" altLang="en-US"/>
              <a:t>게임 도중 다양한 변수들을 만들기 위해 </a:t>
            </a:r>
            <a:r>
              <a:rPr lang="en-US" altLang="ko-KR"/>
              <a:t>			</a:t>
            </a:r>
            <a:r>
              <a:rPr lang="ko-KR" altLang="en-US"/>
              <a:t>사용하는 아이템들에 대한 데이터들을 담은 </a:t>
            </a:r>
            <a:r>
              <a:rPr lang="en-US" altLang="ko-KR"/>
              <a:t>		</a:t>
            </a:r>
            <a:r>
              <a:rPr lang="ko-KR" altLang="en-US"/>
              <a:t>마스터 테이블</a:t>
            </a:r>
            <a:endParaRPr lang="en-US" altLang="ko-KR"/>
          </a:p>
          <a:p>
            <a:pPr>
              <a:buFont typeface="Arial" panose="020B0604020202020204" pitchFamily="34" charset="0"/>
              <a:buChar char="•"/>
            </a:pPr>
            <a:endParaRPr lang="en-US" altLang="ko-KR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/>
              <a:t> </a:t>
            </a:r>
            <a:r>
              <a:rPr lang="en-US" altLang="ko-KR"/>
              <a:t>INVENTORY : </a:t>
            </a:r>
            <a:r>
              <a:rPr lang="ko-KR" altLang="en-US"/>
              <a:t>각 플레이어들이 아이템을 얼만큼      </a:t>
            </a:r>
            <a:r>
              <a:rPr lang="en-US" altLang="ko-KR"/>
              <a:t>			</a:t>
            </a:r>
            <a:r>
              <a:rPr lang="ko-KR" altLang="en-US"/>
              <a:t>소유하고 있는지 보여주는 테이블 </a:t>
            </a:r>
            <a:r>
              <a:rPr lang="en-US" altLang="ko-KR"/>
              <a:t>, 			Item_id</a:t>
            </a:r>
            <a:r>
              <a:rPr lang="ko-KR" altLang="en-US"/>
              <a:t> 와 </a:t>
            </a:r>
            <a:r>
              <a:rPr lang="en-US" altLang="ko-KR"/>
              <a:t>user_id</a:t>
            </a:r>
            <a:r>
              <a:rPr lang="ko-KR" altLang="en-US"/>
              <a:t>를 복합 </a:t>
            </a:r>
            <a:r>
              <a:rPr lang="en-US" altLang="ko-KR"/>
              <a:t>PK,FK</a:t>
            </a:r>
            <a:r>
              <a:rPr lang="ko-KR" altLang="en-US"/>
              <a:t>로 </a:t>
            </a:r>
            <a:r>
              <a:rPr lang="en-US" altLang="ko-KR"/>
              <a:t>			</a:t>
            </a:r>
            <a:r>
              <a:rPr lang="ko-KR" altLang="en-US"/>
              <a:t>가지고 있다</a:t>
            </a:r>
            <a:r>
              <a:rPr lang="en-US" altLang="ko-KR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/>
              <a:t> GAME_LOG : </a:t>
            </a:r>
            <a:r>
              <a:rPr lang="ko-KR" altLang="en-US"/>
              <a:t>컴퓨터와의 승부 결과를 기록하여 </a:t>
            </a:r>
            <a:r>
              <a:rPr lang="en-US" altLang="ko-KR"/>
              <a:t>			</a:t>
            </a:r>
            <a:r>
              <a:rPr lang="ko-KR" altLang="en-US"/>
              <a:t>해당 매칭으로부터 얻은 재화들과 </a:t>
            </a:r>
            <a:r>
              <a:rPr lang="en-US" altLang="ko-KR"/>
              <a:t>				</a:t>
            </a:r>
            <a:r>
              <a:rPr lang="ko-KR" altLang="en-US"/>
              <a:t>승</a:t>
            </a:r>
            <a:r>
              <a:rPr lang="en-US" altLang="ko-KR"/>
              <a:t>/</a:t>
            </a:r>
            <a:r>
              <a:rPr lang="ko-KR" altLang="en-US"/>
              <a:t>패 여부 게임의 상세 데이터들을 </a:t>
            </a:r>
            <a:r>
              <a:rPr lang="en-US" altLang="ko-KR"/>
              <a:t>			</a:t>
            </a:r>
            <a:r>
              <a:rPr lang="ko-KR" altLang="en-US"/>
              <a:t>담은 로그 테이블</a:t>
            </a:r>
            <a:endParaRPr lang="en-US" altLang="ko-KR"/>
          </a:p>
          <a:p>
            <a:pPr>
              <a:buFont typeface="Arial" panose="020B0604020202020204" pitchFamily="34" charset="0"/>
              <a:buChar char="•"/>
            </a:pPr>
            <a:endParaRPr lang="en-US" altLang="ko-KR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/>
              <a:t> CARD , LAND : </a:t>
            </a:r>
            <a:r>
              <a:rPr lang="ko-KR" altLang="en-US"/>
              <a:t>부루마블을 진행하기 위해 해당 </a:t>
            </a:r>
            <a:r>
              <a:rPr lang="en-US" altLang="ko-KR"/>
              <a:t>			</a:t>
            </a:r>
            <a:r>
              <a:rPr lang="ko-KR" altLang="en-US"/>
              <a:t>테이블들로 부터 데이터를 읽어오는 </a:t>
            </a:r>
            <a:r>
              <a:rPr lang="en-US" altLang="ko-KR"/>
              <a:t>			</a:t>
            </a:r>
            <a:r>
              <a:rPr lang="ko-KR" altLang="en-US"/>
              <a:t>마스터 테이블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D94FDF-593F-D672-8020-A42367E83111}"/>
              </a:ext>
            </a:extLst>
          </p:cNvPr>
          <p:cNvSpPr txBox="1"/>
          <p:nvPr/>
        </p:nvSpPr>
        <p:spPr>
          <a:xfrm>
            <a:off x="2539951" y="5516974"/>
            <a:ext cx="2085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latin typeface="+mn-ea"/>
              </a:rPr>
              <a:t>부루마블 시뮬레이터 </a:t>
            </a:r>
            <a:r>
              <a:rPr lang="en-US" altLang="ko-KR" sz="1400">
                <a:latin typeface="+mn-ea"/>
              </a:rPr>
              <a:t>ERD</a:t>
            </a:r>
            <a:endParaRPr lang="ko-KR" altLang="en-US" sz="14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33501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0">
          <a:extLst>
            <a:ext uri="{FF2B5EF4-FFF2-40B4-BE49-F238E27FC236}">
              <a16:creationId xmlns:a16="http://schemas.microsoft.com/office/drawing/2014/main" id="{CCD4BBE6-0CF2-9B41-6EB5-2E9B54894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046D53-6777-24F9-4AE9-777A3AA62989}"/>
              </a:ext>
            </a:extLst>
          </p:cNvPr>
          <p:cNvSpPr txBox="1"/>
          <p:nvPr/>
        </p:nvSpPr>
        <p:spPr>
          <a:xfrm>
            <a:off x="467956" y="307818"/>
            <a:ext cx="3050959" cy="461665"/>
          </a:xfrm>
          <a:prstGeom prst="rect">
            <a:avLst/>
          </a:prstGeom>
          <a:noFill/>
        </p:spPr>
        <p:txBody>
          <a:bodyPr wrap="none" rIns="36000" rtlCol="0">
            <a:spAutoFit/>
          </a:bodyPr>
          <a:lstStyle/>
          <a:p>
            <a:r>
              <a:rPr lang="en-US" altLang="ko-KR" sz="24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3. </a:t>
            </a:r>
            <a:r>
              <a:rPr lang="ko-KR" altLang="en-US" sz="24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시스템 기능 흐름도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6425136-4186-A8BA-FAD8-31BA851BF0F0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3518915" y="538651"/>
            <a:ext cx="8069656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4" name="그림 13">
            <a:extLst>
              <a:ext uri="{FF2B5EF4-FFF2-40B4-BE49-F238E27FC236}">
                <a16:creationId xmlns:a16="http://schemas.microsoft.com/office/drawing/2014/main" id="{6070C274-6AEC-CF74-0B59-D020E47F6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56" y="1131133"/>
            <a:ext cx="9471433" cy="353134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A22521C-CF5E-6EC1-67F4-B8F6E2D8BD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3365" y="654067"/>
            <a:ext cx="1355084" cy="5471231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E3E8C2E-28F7-B4A6-5E94-124DE6917614}"/>
              </a:ext>
            </a:extLst>
          </p:cNvPr>
          <p:cNvCxnSpPr>
            <a:cxnSpLocks/>
          </p:cNvCxnSpPr>
          <p:nvPr/>
        </p:nvCxnSpPr>
        <p:spPr>
          <a:xfrm flipV="1">
            <a:off x="2080846" y="6540796"/>
            <a:ext cx="8612683" cy="93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674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0">
          <a:extLst>
            <a:ext uri="{FF2B5EF4-FFF2-40B4-BE49-F238E27FC236}">
              <a16:creationId xmlns:a16="http://schemas.microsoft.com/office/drawing/2014/main" id="{8B428907-2FE8-8D62-F10E-1E7A11EBC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7E32D8-54DD-5F24-931A-1A709F85642F}"/>
              </a:ext>
            </a:extLst>
          </p:cNvPr>
          <p:cNvSpPr txBox="1"/>
          <p:nvPr/>
        </p:nvSpPr>
        <p:spPr>
          <a:xfrm>
            <a:off x="467956" y="307818"/>
            <a:ext cx="3050959" cy="461665"/>
          </a:xfrm>
          <a:prstGeom prst="rect">
            <a:avLst/>
          </a:prstGeom>
          <a:noFill/>
        </p:spPr>
        <p:txBody>
          <a:bodyPr wrap="none" rIns="36000" rtlCol="0">
            <a:spAutoFit/>
          </a:bodyPr>
          <a:lstStyle/>
          <a:p>
            <a:r>
              <a:rPr lang="en-US" altLang="ko-KR" sz="24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3. </a:t>
            </a:r>
            <a:r>
              <a:rPr lang="ko-KR" altLang="en-US" sz="24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시스템 기능 흐름도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77AC3A2-AC28-C904-1FB3-544685284CB9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3518915" y="538651"/>
            <a:ext cx="8069656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A7B2DE6-AE5D-E86C-085A-FCEDEB9BB33B}"/>
              </a:ext>
            </a:extLst>
          </p:cNvPr>
          <p:cNvCxnSpPr>
            <a:cxnSpLocks/>
          </p:cNvCxnSpPr>
          <p:nvPr/>
        </p:nvCxnSpPr>
        <p:spPr>
          <a:xfrm flipV="1">
            <a:off x="2080846" y="6540796"/>
            <a:ext cx="8612683" cy="93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A295F427-E38C-544E-A5B6-014776B07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56" y="1733751"/>
            <a:ext cx="8764223" cy="1219370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6521C9D-1FBE-A358-9571-0705CE16617D}"/>
              </a:ext>
            </a:extLst>
          </p:cNvPr>
          <p:cNvCxnSpPr>
            <a:cxnSpLocks/>
          </p:cNvCxnSpPr>
          <p:nvPr/>
        </p:nvCxnSpPr>
        <p:spPr>
          <a:xfrm>
            <a:off x="4736109" y="1238536"/>
            <a:ext cx="0" cy="259323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3BF91A3-56FB-67CD-0442-C1B9A4DA440A}"/>
              </a:ext>
            </a:extLst>
          </p:cNvPr>
          <p:cNvCxnSpPr>
            <a:cxnSpLocks/>
          </p:cNvCxnSpPr>
          <p:nvPr/>
        </p:nvCxnSpPr>
        <p:spPr>
          <a:xfrm>
            <a:off x="7136674" y="1186543"/>
            <a:ext cx="0" cy="25298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AD7F1E6C-B86D-0CF2-45AD-1E15965AA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7971" y="3723679"/>
            <a:ext cx="1168091" cy="1168091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6147773-AF30-980A-3F8D-8E72B86EE8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1203" y="3720031"/>
            <a:ext cx="1114581" cy="1171739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51A3276E-8FEB-6384-A1FB-6D6CF0A11C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3938" y="3716383"/>
            <a:ext cx="1114581" cy="1176501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C7D75793-FE70-76C3-52BD-000F5E8AC1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4238" y="3716383"/>
            <a:ext cx="2114845" cy="1162212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355C8BE5-D72B-670C-6AC3-BB72998BDB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66646" y="3699063"/>
            <a:ext cx="2200582" cy="1047896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719EC0E3-55B1-7FFB-5791-D30F34D6D0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502" y="4960612"/>
            <a:ext cx="1114581" cy="1176501"/>
          </a:xfrm>
          <a:prstGeom prst="rect">
            <a:avLst/>
          </a:prstGeom>
        </p:spPr>
      </p:pic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9C51A73E-2966-A9FB-4EE6-D157B2AF4602}"/>
              </a:ext>
            </a:extLst>
          </p:cNvPr>
          <p:cNvCxnSpPr>
            <a:cxnSpLocks/>
          </p:cNvCxnSpPr>
          <p:nvPr/>
        </p:nvCxnSpPr>
        <p:spPr>
          <a:xfrm>
            <a:off x="2258520" y="1238536"/>
            <a:ext cx="0" cy="259323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8357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0">
          <a:extLst>
            <a:ext uri="{FF2B5EF4-FFF2-40B4-BE49-F238E27FC236}">
              <a16:creationId xmlns:a16="http://schemas.microsoft.com/office/drawing/2014/main" id="{E458AD3B-4D55-B4DA-E675-C1E8988D6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A4D21E-842D-663D-E37C-B39B694A9896}"/>
              </a:ext>
            </a:extLst>
          </p:cNvPr>
          <p:cNvSpPr txBox="1"/>
          <p:nvPr/>
        </p:nvSpPr>
        <p:spPr>
          <a:xfrm>
            <a:off x="467956" y="307818"/>
            <a:ext cx="3342706" cy="461665"/>
          </a:xfrm>
          <a:prstGeom prst="rect">
            <a:avLst/>
          </a:prstGeom>
          <a:noFill/>
        </p:spPr>
        <p:txBody>
          <a:bodyPr wrap="none" rIns="36000" rtlCol="0">
            <a:spAutoFit/>
          </a:bodyPr>
          <a:lstStyle/>
          <a:p>
            <a:r>
              <a:rPr lang="en-US" altLang="ko-KR" sz="24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4. </a:t>
            </a:r>
            <a:r>
              <a:rPr lang="ko-KR" altLang="en-US" sz="24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기능별 프로그램 시연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B48130A-FEB2-0325-5E07-2B16DA74B541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3810662" y="538651"/>
            <a:ext cx="7777909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682652B-922B-B230-28A9-17FD8EA1487E}"/>
              </a:ext>
            </a:extLst>
          </p:cNvPr>
          <p:cNvCxnSpPr>
            <a:cxnSpLocks/>
          </p:cNvCxnSpPr>
          <p:nvPr/>
        </p:nvCxnSpPr>
        <p:spPr>
          <a:xfrm>
            <a:off x="2016369" y="6540796"/>
            <a:ext cx="86771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8" name="그림 17">
            <a:extLst>
              <a:ext uri="{FF2B5EF4-FFF2-40B4-BE49-F238E27FC236}">
                <a16:creationId xmlns:a16="http://schemas.microsoft.com/office/drawing/2014/main" id="{EBC99AA8-E033-F99C-7D83-BBCC56145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47" y="1303462"/>
            <a:ext cx="6961594" cy="410394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575950A-5831-8AEF-FC8B-05439F5911EB}"/>
              </a:ext>
            </a:extLst>
          </p:cNvPr>
          <p:cNvSpPr txBox="1"/>
          <p:nvPr/>
        </p:nvSpPr>
        <p:spPr>
          <a:xfrm>
            <a:off x="924573" y="861816"/>
            <a:ext cx="14847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a옛날사진관3" panose="02020600000000000000" pitchFamily="18" charset="-127"/>
                <a:ea typeface="a옛날사진관3" panose="02020600000000000000"/>
              </a:rPr>
              <a:t>로그인 메뉴</a:t>
            </a:r>
          </a:p>
        </p:txBody>
      </p:sp>
    </p:spTree>
    <p:extLst>
      <p:ext uri="{BB962C8B-B14F-4D97-AF65-F5344CB8AC3E}">
        <p14:creationId xmlns:p14="http://schemas.microsoft.com/office/powerpoint/2010/main" val="3677618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0">
          <a:extLst>
            <a:ext uri="{FF2B5EF4-FFF2-40B4-BE49-F238E27FC236}">
              <a16:creationId xmlns:a16="http://schemas.microsoft.com/office/drawing/2014/main" id="{4A5C5584-0CF3-4AC9-3006-3AE4F036B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3B7B7B-E759-F85D-C1E6-43533704E691}"/>
              </a:ext>
            </a:extLst>
          </p:cNvPr>
          <p:cNvSpPr txBox="1"/>
          <p:nvPr/>
        </p:nvSpPr>
        <p:spPr>
          <a:xfrm>
            <a:off x="467956" y="307818"/>
            <a:ext cx="3342706" cy="461665"/>
          </a:xfrm>
          <a:prstGeom prst="rect">
            <a:avLst/>
          </a:prstGeom>
          <a:noFill/>
        </p:spPr>
        <p:txBody>
          <a:bodyPr wrap="none" rIns="36000" rtlCol="0">
            <a:spAutoFit/>
          </a:bodyPr>
          <a:lstStyle/>
          <a:p>
            <a:r>
              <a:rPr lang="en-US" altLang="ko-KR" sz="24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4. </a:t>
            </a:r>
            <a:r>
              <a:rPr lang="ko-KR" altLang="en-US" sz="24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기능별 프로그램 시연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13113EF-80D0-5A06-14DC-AD90A5C8B0D1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3810662" y="538651"/>
            <a:ext cx="7777909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5F1047FE-255E-6C76-3CF7-8CCE48066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31" y="2358242"/>
            <a:ext cx="4706117" cy="223751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C8C0378-6213-120C-4DF2-E8D1160543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5" y="2448826"/>
            <a:ext cx="3959736" cy="203928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11EFAAF-7B8A-F1BC-F42C-5A93323287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3855" y="4630876"/>
            <a:ext cx="3942836" cy="181758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4E7FC91-5A15-90A6-BDEB-A3FEE5A20C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6955" y="646147"/>
            <a:ext cx="3942836" cy="16951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BAD072-827D-EA1F-E0EF-2A073F56BDEE}"/>
              </a:ext>
            </a:extLst>
          </p:cNvPr>
          <p:cNvSpPr txBox="1"/>
          <p:nvPr/>
        </p:nvSpPr>
        <p:spPr>
          <a:xfrm>
            <a:off x="924573" y="861816"/>
            <a:ext cx="14847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a옛날사진관3" panose="02020600000000000000" pitchFamily="18" charset="-127"/>
                <a:ea typeface="a옛날사진관3" panose="02020600000000000000"/>
              </a:rPr>
              <a:t>로그인 메뉴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F64FF50-15F9-45D1-3012-B3297C2563E0}"/>
              </a:ext>
            </a:extLst>
          </p:cNvPr>
          <p:cNvCxnSpPr>
            <a:stCxn id="5" idx="3"/>
            <a:endCxn id="14" idx="1"/>
          </p:cNvCxnSpPr>
          <p:nvPr/>
        </p:nvCxnSpPr>
        <p:spPr>
          <a:xfrm flipV="1">
            <a:off x="4843148" y="1493739"/>
            <a:ext cx="1233807" cy="1983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1B264B4-B476-E53B-CA1A-EA4DAEC34266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4843148" y="3468470"/>
            <a:ext cx="1233807" cy="8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954E910-2928-1D1B-21CD-95DA5FA675AD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4843148" y="3477002"/>
            <a:ext cx="1250707" cy="20626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FDE8396-7E24-AE5C-1420-9A5005185F4B}"/>
              </a:ext>
            </a:extLst>
          </p:cNvPr>
          <p:cNvCxnSpPr>
            <a:cxnSpLocks/>
          </p:cNvCxnSpPr>
          <p:nvPr/>
        </p:nvCxnSpPr>
        <p:spPr>
          <a:xfrm flipV="1">
            <a:off x="2080846" y="6540796"/>
            <a:ext cx="8612683" cy="93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8738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0">
          <a:extLst>
            <a:ext uri="{FF2B5EF4-FFF2-40B4-BE49-F238E27FC236}">
              <a16:creationId xmlns:a16="http://schemas.microsoft.com/office/drawing/2014/main" id="{A94560F3-25F1-EED2-E549-23D3FF08B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4B2283-904C-8D14-1976-D602B42FF44B}"/>
              </a:ext>
            </a:extLst>
          </p:cNvPr>
          <p:cNvSpPr txBox="1"/>
          <p:nvPr/>
        </p:nvSpPr>
        <p:spPr>
          <a:xfrm>
            <a:off x="467956" y="307818"/>
            <a:ext cx="3342706" cy="461665"/>
          </a:xfrm>
          <a:prstGeom prst="rect">
            <a:avLst/>
          </a:prstGeom>
          <a:noFill/>
        </p:spPr>
        <p:txBody>
          <a:bodyPr wrap="none" rIns="36000" rtlCol="0">
            <a:spAutoFit/>
          </a:bodyPr>
          <a:lstStyle/>
          <a:p>
            <a:r>
              <a:rPr lang="en-US" altLang="ko-KR" sz="24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4. </a:t>
            </a:r>
            <a:r>
              <a:rPr lang="ko-KR" altLang="en-US" sz="24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기능별 프로그램 시연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3FD6157-283A-CAC6-6FE0-9CA42541677D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3810662" y="538651"/>
            <a:ext cx="7777909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B69CC5F-1B43-6172-FE63-B4047306AD59}"/>
              </a:ext>
            </a:extLst>
          </p:cNvPr>
          <p:cNvSpPr txBox="1"/>
          <p:nvPr/>
        </p:nvSpPr>
        <p:spPr>
          <a:xfrm>
            <a:off x="792943" y="923354"/>
            <a:ext cx="12410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a옛날사진관3" panose="02020600000000000000" pitchFamily="18" charset="-127"/>
                <a:ea typeface="a옛날사진관3" panose="02020600000000000000"/>
              </a:rPr>
              <a:t>로비 메뉴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825B03E-A1CC-DC11-ED8D-8FAD8746B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43" y="1477335"/>
            <a:ext cx="5303057" cy="444793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9D00C2A-CF68-F7AA-E0DF-4D432DC0A7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809" y="4420114"/>
            <a:ext cx="3343742" cy="1505160"/>
          </a:xfrm>
          <a:prstGeom prst="rect">
            <a:avLst/>
          </a:prstGeom>
        </p:spPr>
      </p:pic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BE0417BF-523C-F310-3669-E192031EAB1E}"/>
              </a:ext>
            </a:extLst>
          </p:cNvPr>
          <p:cNvSpPr/>
          <p:nvPr/>
        </p:nvSpPr>
        <p:spPr>
          <a:xfrm>
            <a:off x="7898674" y="3608974"/>
            <a:ext cx="661852" cy="67056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5E2195-C958-ADD1-E737-28F2149A7BBD}"/>
              </a:ext>
            </a:extLst>
          </p:cNvPr>
          <p:cNvSpPr txBox="1"/>
          <p:nvPr/>
        </p:nvSpPr>
        <p:spPr>
          <a:xfrm>
            <a:off x="8734409" y="3608974"/>
            <a:ext cx="26646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같은 기능을 하는 필드들을 제네릭으로 묶기</a:t>
            </a:r>
            <a:r>
              <a:rPr lang="en-US" altLang="ko-KR"/>
              <a:t>!</a:t>
            </a:r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4A832AB-C319-FCA0-5AAC-BE98C558BD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5809" y="1599333"/>
            <a:ext cx="4772691" cy="1733792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7621B85-EE25-1936-7635-B6AFDD5F5135}"/>
              </a:ext>
            </a:extLst>
          </p:cNvPr>
          <p:cNvCxnSpPr>
            <a:cxnSpLocks/>
          </p:cNvCxnSpPr>
          <p:nvPr/>
        </p:nvCxnSpPr>
        <p:spPr>
          <a:xfrm flipV="1">
            <a:off x="2080846" y="6540796"/>
            <a:ext cx="8612683" cy="93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0764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0">
          <a:extLst>
            <a:ext uri="{FF2B5EF4-FFF2-40B4-BE49-F238E27FC236}">
              <a16:creationId xmlns:a16="http://schemas.microsoft.com/office/drawing/2014/main" id="{4C24B9C1-C643-1F06-50A9-FF0A4E853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64AD89-F045-D6C3-D226-7A9324074C16}"/>
              </a:ext>
            </a:extLst>
          </p:cNvPr>
          <p:cNvSpPr txBox="1"/>
          <p:nvPr/>
        </p:nvSpPr>
        <p:spPr>
          <a:xfrm>
            <a:off x="467956" y="307818"/>
            <a:ext cx="3342706" cy="461665"/>
          </a:xfrm>
          <a:prstGeom prst="rect">
            <a:avLst/>
          </a:prstGeom>
          <a:noFill/>
        </p:spPr>
        <p:txBody>
          <a:bodyPr wrap="none" rIns="36000" rtlCol="0">
            <a:spAutoFit/>
          </a:bodyPr>
          <a:lstStyle/>
          <a:p>
            <a:r>
              <a:rPr lang="en-US" altLang="ko-KR" sz="24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4. </a:t>
            </a:r>
            <a:r>
              <a:rPr lang="ko-KR" altLang="en-US" sz="24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기능별 프로그램 시연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E1E99CB-67F7-40D4-7371-8469544581D7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3810662" y="538651"/>
            <a:ext cx="7777909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4" name="그림 23">
            <a:extLst>
              <a:ext uri="{FF2B5EF4-FFF2-40B4-BE49-F238E27FC236}">
                <a16:creationId xmlns:a16="http://schemas.microsoft.com/office/drawing/2014/main" id="{316E63C4-66A0-A474-D0B5-FEAB85FAC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56" y="1420325"/>
            <a:ext cx="6229819" cy="45157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F173D9-4338-A808-E7A2-3F8E8253712F}"/>
              </a:ext>
            </a:extLst>
          </p:cNvPr>
          <p:cNvSpPr txBox="1"/>
          <p:nvPr/>
        </p:nvSpPr>
        <p:spPr>
          <a:xfrm>
            <a:off x="6885326" y="3516234"/>
            <a:ext cx="45809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인벤토리 테이블 컬럼은 수량밖에 없으므로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자세한 내용을 보여주기 위해선 </a:t>
            </a:r>
            <a:r>
              <a:rPr lang="en-US" altLang="ko-KR" dirty="0"/>
              <a:t>JOIN </a:t>
            </a:r>
            <a:r>
              <a:rPr lang="ko-KR" altLang="en-US" dirty="0"/>
              <a:t>필수</a:t>
            </a:r>
            <a:r>
              <a:rPr lang="en-US" altLang="ko-KR" dirty="0"/>
              <a:t>!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1285736-CECD-0951-395F-E5CAF7E0A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5732" y="1420325"/>
            <a:ext cx="4582164" cy="195289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0BBA033-7E68-C0FB-A8CC-B328B7B81D3D}"/>
              </a:ext>
            </a:extLst>
          </p:cNvPr>
          <p:cNvSpPr txBox="1"/>
          <p:nvPr/>
        </p:nvSpPr>
        <p:spPr>
          <a:xfrm>
            <a:off x="792943" y="923354"/>
            <a:ext cx="12410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a옛날사진관3" panose="02020600000000000000" pitchFamily="18" charset="-127"/>
                <a:ea typeface="a옛날사진관3" panose="02020600000000000000"/>
              </a:rPr>
              <a:t>로비 메뉴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FF5DBBC-C06E-5F66-27F4-F5646D104450}"/>
              </a:ext>
            </a:extLst>
          </p:cNvPr>
          <p:cNvCxnSpPr>
            <a:cxnSpLocks/>
          </p:cNvCxnSpPr>
          <p:nvPr/>
        </p:nvCxnSpPr>
        <p:spPr>
          <a:xfrm flipV="1">
            <a:off x="2080846" y="6540796"/>
            <a:ext cx="8612683" cy="93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148CC91C-EA15-6AC1-F3B0-C2206B41F473}"/>
              </a:ext>
            </a:extLst>
          </p:cNvPr>
          <p:cNvSpPr/>
          <p:nvPr/>
        </p:nvSpPr>
        <p:spPr>
          <a:xfrm>
            <a:off x="280405" y="3897923"/>
            <a:ext cx="2832072" cy="3223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319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0">
          <a:extLst>
            <a:ext uri="{FF2B5EF4-FFF2-40B4-BE49-F238E27FC236}">
              <a16:creationId xmlns:a16="http://schemas.microsoft.com/office/drawing/2014/main" id="{D742290D-6659-BF34-CC79-A76DCE837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135FB5-F421-0281-59D3-0E26CED5754D}"/>
              </a:ext>
            </a:extLst>
          </p:cNvPr>
          <p:cNvSpPr txBox="1"/>
          <p:nvPr/>
        </p:nvSpPr>
        <p:spPr>
          <a:xfrm>
            <a:off x="467956" y="307818"/>
            <a:ext cx="3342706" cy="461665"/>
          </a:xfrm>
          <a:prstGeom prst="rect">
            <a:avLst/>
          </a:prstGeom>
          <a:noFill/>
        </p:spPr>
        <p:txBody>
          <a:bodyPr wrap="none" rIns="36000" rtlCol="0">
            <a:spAutoFit/>
          </a:bodyPr>
          <a:lstStyle/>
          <a:p>
            <a:r>
              <a:rPr lang="en-US" altLang="ko-KR" sz="24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4. </a:t>
            </a:r>
            <a:r>
              <a:rPr lang="ko-KR" altLang="en-US" sz="24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기능별 프로그램 시연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7C4EF42-B444-767D-3F50-5F0FDE14877E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3810662" y="538651"/>
            <a:ext cx="7777909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0177A535-22EF-E788-DB7E-25D8809A0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205" y="1409088"/>
            <a:ext cx="4673254" cy="237538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CBD3ABC-22DB-B59A-67DA-89894E270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708" y="1409088"/>
            <a:ext cx="5320863" cy="237538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FE4EB33-8805-51D1-729D-E09F666284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400" y="3998252"/>
            <a:ext cx="3505171" cy="228398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3843F00-AC85-87D8-0621-4F12FBC14F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200" y="4007046"/>
            <a:ext cx="3787753" cy="227519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FEBE9DA0-96ED-ECFF-7C9B-7CC11B6FA2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000" y="3998035"/>
            <a:ext cx="3662790" cy="229311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8803A34-A98E-D64E-1C32-77547F6ED248}"/>
              </a:ext>
            </a:extLst>
          </p:cNvPr>
          <p:cNvSpPr txBox="1"/>
          <p:nvPr/>
        </p:nvSpPr>
        <p:spPr>
          <a:xfrm>
            <a:off x="792943" y="923354"/>
            <a:ext cx="36503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a옛날사진관3" panose="02020600000000000000" pitchFamily="18" charset="-127"/>
                <a:ea typeface="a옛날사진관3" panose="02020600000000000000"/>
              </a:rPr>
              <a:t>로비 메뉴 </a:t>
            </a:r>
            <a:r>
              <a:rPr lang="en-US" altLang="ko-KR" sz="2000" dirty="0">
                <a:latin typeface="a옛날사진관3" panose="02020600000000000000" pitchFamily="18" charset="-127"/>
                <a:ea typeface="a옛날사진관3" panose="02020600000000000000"/>
              </a:rPr>
              <a:t>– </a:t>
            </a:r>
            <a:r>
              <a:rPr lang="ko-KR" altLang="en-US" sz="2000" dirty="0">
                <a:latin typeface="a옛날사진관3" panose="02020600000000000000" pitchFamily="18" charset="-127"/>
                <a:ea typeface="a옛날사진관3" panose="02020600000000000000"/>
              </a:rPr>
              <a:t>상점 </a:t>
            </a:r>
            <a:r>
              <a:rPr lang="en-US" altLang="ko-KR" sz="2000" dirty="0">
                <a:latin typeface="a옛날사진관3" panose="02020600000000000000" pitchFamily="18" charset="-127"/>
                <a:ea typeface="a옛날사진관3" panose="02020600000000000000"/>
              </a:rPr>
              <a:t>, </a:t>
            </a:r>
            <a:r>
              <a:rPr lang="ko-KR" altLang="en-US" sz="2000" dirty="0">
                <a:latin typeface="a옛날사진관3" panose="02020600000000000000" pitchFamily="18" charset="-127"/>
                <a:ea typeface="a옛날사진관3" panose="02020600000000000000"/>
              </a:rPr>
              <a:t>아이템 조회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FA3459A-4450-ECF5-158E-0A9004626044}"/>
              </a:ext>
            </a:extLst>
          </p:cNvPr>
          <p:cNvCxnSpPr>
            <a:cxnSpLocks/>
          </p:cNvCxnSpPr>
          <p:nvPr/>
        </p:nvCxnSpPr>
        <p:spPr>
          <a:xfrm flipV="1">
            <a:off x="2080846" y="6540796"/>
            <a:ext cx="8612683" cy="93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4654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0">
          <a:extLst>
            <a:ext uri="{FF2B5EF4-FFF2-40B4-BE49-F238E27FC236}">
              <a16:creationId xmlns:a16="http://schemas.microsoft.com/office/drawing/2014/main" id="{F1E05306-6DAA-5A04-F82A-D24C7E751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AC7763-09B5-5F59-4636-662236D877A6}"/>
              </a:ext>
            </a:extLst>
          </p:cNvPr>
          <p:cNvSpPr txBox="1"/>
          <p:nvPr/>
        </p:nvSpPr>
        <p:spPr>
          <a:xfrm>
            <a:off x="467956" y="307818"/>
            <a:ext cx="3342706" cy="461665"/>
          </a:xfrm>
          <a:prstGeom prst="rect">
            <a:avLst/>
          </a:prstGeom>
          <a:noFill/>
        </p:spPr>
        <p:txBody>
          <a:bodyPr wrap="none" rIns="36000" rtlCol="0">
            <a:spAutoFit/>
          </a:bodyPr>
          <a:lstStyle/>
          <a:p>
            <a:r>
              <a:rPr lang="en-US" altLang="ko-KR" sz="24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4. </a:t>
            </a:r>
            <a:r>
              <a:rPr lang="ko-KR" altLang="en-US" sz="24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기능별 프로그램 시연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DAFD67B-FC9F-0F63-25E9-58B78AC066C2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3810662" y="538651"/>
            <a:ext cx="7777909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3115BB5-AC3D-5DEA-B3A5-6F4931830753}"/>
              </a:ext>
            </a:extLst>
          </p:cNvPr>
          <p:cNvSpPr txBox="1"/>
          <p:nvPr/>
        </p:nvSpPr>
        <p:spPr>
          <a:xfrm>
            <a:off x="792943" y="923354"/>
            <a:ext cx="12410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a옛날사진관3" panose="02020600000000000000" pitchFamily="18" charset="-127"/>
                <a:ea typeface="a옛날사진관3" panose="02020600000000000000"/>
              </a:rPr>
              <a:t>게임 시작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A37C853-7E35-31AE-1CB8-5CF95FE4E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5766" y="923354"/>
            <a:ext cx="2758089" cy="288170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CF951DA3-7897-08DE-D865-A5AF8E5E9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5767" y="3994201"/>
            <a:ext cx="2758089" cy="167134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A0F75BAB-1BE7-EDD1-BC91-5A0D6757CF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708" y="1331582"/>
            <a:ext cx="8023601" cy="3170053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473CFBD5-D8C0-2886-6845-961B03AB43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2237" y="4567467"/>
            <a:ext cx="2379164" cy="109807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B58089C-22CD-C95A-83F0-C12259F079DC}"/>
              </a:ext>
            </a:extLst>
          </p:cNvPr>
          <p:cNvSpPr txBox="1"/>
          <p:nvPr/>
        </p:nvSpPr>
        <p:spPr>
          <a:xfrm>
            <a:off x="8303441" y="5749980"/>
            <a:ext cx="3893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GameState</a:t>
            </a:r>
            <a:r>
              <a:rPr lang="ko-KR" altLang="en-US"/>
              <a:t>를 계속 전달하면서 진행</a:t>
            </a:r>
            <a:r>
              <a:rPr lang="en-US" altLang="ko-KR"/>
              <a:t>!!</a:t>
            </a:r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07B2D6-A1C3-68AB-EA09-AFA9FAECD71C}"/>
              </a:ext>
            </a:extLst>
          </p:cNvPr>
          <p:cNvSpPr txBox="1"/>
          <p:nvPr/>
        </p:nvSpPr>
        <p:spPr>
          <a:xfrm>
            <a:off x="1413465" y="5749980"/>
            <a:ext cx="65443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다양한 주사위 및 아이템 효과들은 </a:t>
            </a:r>
            <a:r>
              <a:rPr lang="en-US" altLang="ko-KR" dirty="0"/>
              <a:t>interface </a:t>
            </a:r>
            <a:r>
              <a:rPr lang="ko-KR" altLang="en-US" dirty="0"/>
              <a:t>또는 </a:t>
            </a:r>
            <a:r>
              <a:rPr lang="en-US" altLang="ko-KR" dirty="0"/>
              <a:t>switch</a:t>
            </a:r>
            <a:r>
              <a:rPr lang="ko-KR" altLang="en-US" dirty="0"/>
              <a:t>로 처리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2150ABBB-79E2-3660-E198-FA8D8D3A58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7460" y="4741489"/>
            <a:ext cx="4648849" cy="924054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4E4A333-DEFD-9236-9583-CB9CD77FBAFB}"/>
              </a:ext>
            </a:extLst>
          </p:cNvPr>
          <p:cNvCxnSpPr>
            <a:cxnSpLocks/>
          </p:cNvCxnSpPr>
          <p:nvPr/>
        </p:nvCxnSpPr>
        <p:spPr>
          <a:xfrm flipV="1">
            <a:off x="2080846" y="6540796"/>
            <a:ext cx="8612683" cy="93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7C518AD-9498-25F7-BD07-3D7D6A39624E}"/>
              </a:ext>
            </a:extLst>
          </p:cNvPr>
          <p:cNvSpPr txBox="1"/>
          <p:nvPr/>
        </p:nvSpPr>
        <p:spPr>
          <a:xfrm>
            <a:off x="5240215" y="1733660"/>
            <a:ext cx="23237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/>
              <a:t>Model.Player</a:t>
            </a:r>
            <a:r>
              <a:rPr lang="en-US" altLang="ko-KR" sz="1400" dirty="0"/>
              <a:t> (class)</a:t>
            </a:r>
          </a:p>
          <a:p>
            <a:r>
              <a:rPr lang="en-US" altLang="ko-KR" sz="1400" dirty="0" err="1"/>
              <a:t>Model.GameResult</a:t>
            </a:r>
            <a:r>
              <a:rPr lang="en-US" altLang="ko-KR" sz="1400" dirty="0"/>
              <a:t> (</a:t>
            </a:r>
            <a:r>
              <a:rPr lang="en-US" altLang="ko-KR" sz="1400" dirty="0" err="1"/>
              <a:t>enum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0611A28-A7B4-7D52-F1AF-B07FBDB7E96B}"/>
              </a:ext>
            </a:extLst>
          </p:cNvPr>
          <p:cNvCxnSpPr>
            <a:cxnSpLocks/>
          </p:cNvCxnSpPr>
          <p:nvPr/>
        </p:nvCxnSpPr>
        <p:spPr>
          <a:xfrm flipH="1">
            <a:off x="4741985" y="1894898"/>
            <a:ext cx="56795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7251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0">
          <a:extLst>
            <a:ext uri="{FF2B5EF4-FFF2-40B4-BE49-F238E27FC236}">
              <a16:creationId xmlns:a16="http://schemas.microsoft.com/office/drawing/2014/main" id="{DEEA3F98-C605-794E-3F96-E4F897DA8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45DB54-A8FE-8154-3421-67A184B16853}"/>
              </a:ext>
            </a:extLst>
          </p:cNvPr>
          <p:cNvSpPr txBox="1"/>
          <p:nvPr/>
        </p:nvSpPr>
        <p:spPr>
          <a:xfrm>
            <a:off x="467956" y="307818"/>
            <a:ext cx="3342706" cy="461665"/>
          </a:xfrm>
          <a:prstGeom prst="rect">
            <a:avLst/>
          </a:prstGeom>
          <a:noFill/>
        </p:spPr>
        <p:txBody>
          <a:bodyPr wrap="none" rIns="36000" rtlCol="0">
            <a:spAutoFit/>
          </a:bodyPr>
          <a:lstStyle/>
          <a:p>
            <a:r>
              <a:rPr lang="en-US" altLang="ko-KR" sz="24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4. </a:t>
            </a:r>
            <a:r>
              <a:rPr lang="ko-KR" altLang="en-US" sz="24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기능별 프로그램 시연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2E58EE4-6537-907A-0D55-51CF3F9E4577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3810662" y="538651"/>
            <a:ext cx="7777909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22AFC07-0689-3C23-D5A4-51FC2A11A0F6}"/>
              </a:ext>
            </a:extLst>
          </p:cNvPr>
          <p:cNvSpPr txBox="1"/>
          <p:nvPr/>
        </p:nvSpPr>
        <p:spPr>
          <a:xfrm>
            <a:off x="792943" y="923354"/>
            <a:ext cx="12410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a옛날사진관3" panose="02020600000000000000" pitchFamily="18" charset="-127"/>
                <a:ea typeface="a옛날사진관3" panose="02020600000000000000"/>
              </a:rPr>
              <a:t>게임 시작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4D416A1-E7FD-E3B7-1F0C-E84AB0300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56" y="3404706"/>
            <a:ext cx="4950150" cy="252583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D4DE302-7AB0-ACF0-FC31-0A2286550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776" y="1560488"/>
            <a:ext cx="6058795" cy="4370048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3D17710-8201-6D0D-5718-B05846B9B637}"/>
              </a:ext>
            </a:extLst>
          </p:cNvPr>
          <p:cNvCxnSpPr>
            <a:cxnSpLocks/>
          </p:cNvCxnSpPr>
          <p:nvPr/>
        </p:nvCxnSpPr>
        <p:spPr>
          <a:xfrm flipV="1">
            <a:off x="2080846" y="6540796"/>
            <a:ext cx="8612683" cy="93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4206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0">
          <a:extLst>
            <a:ext uri="{FF2B5EF4-FFF2-40B4-BE49-F238E27FC236}">
              <a16:creationId xmlns:a16="http://schemas.microsoft.com/office/drawing/2014/main" id="{95E1CD88-97C8-6FD4-63D7-183741686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B0E48F-8D87-59ED-C547-FD7B94779EAE}"/>
              </a:ext>
            </a:extLst>
          </p:cNvPr>
          <p:cNvSpPr txBox="1"/>
          <p:nvPr/>
        </p:nvSpPr>
        <p:spPr>
          <a:xfrm>
            <a:off x="467956" y="307818"/>
            <a:ext cx="3342706" cy="461665"/>
          </a:xfrm>
          <a:prstGeom prst="rect">
            <a:avLst/>
          </a:prstGeom>
          <a:noFill/>
        </p:spPr>
        <p:txBody>
          <a:bodyPr wrap="none" rIns="36000" rtlCol="0">
            <a:spAutoFit/>
          </a:bodyPr>
          <a:lstStyle/>
          <a:p>
            <a:r>
              <a:rPr lang="en-US" altLang="ko-KR" sz="24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4. </a:t>
            </a:r>
            <a:r>
              <a:rPr lang="ko-KR" altLang="en-US" sz="24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기능별 프로그램 시연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0FA2036-5F55-69CE-DFF2-5347ECEC3D5A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3810662" y="538651"/>
            <a:ext cx="7777909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81D82BF-DB9B-12B2-1434-BA4299B9D333}"/>
              </a:ext>
            </a:extLst>
          </p:cNvPr>
          <p:cNvSpPr txBox="1"/>
          <p:nvPr/>
        </p:nvSpPr>
        <p:spPr>
          <a:xfrm>
            <a:off x="792943" y="923354"/>
            <a:ext cx="24609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a옛날사진관3" panose="02020600000000000000" pitchFamily="18" charset="-127"/>
                <a:ea typeface="a옛날사진관3" panose="02020600000000000000"/>
              </a:rPr>
              <a:t>아이템 사용 및 조회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A780577-85BE-05E6-F17C-58435FC5C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5019" y="2741911"/>
            <a:ext cx="6059982" cy="175402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868C931-49A2-8372-608C-80A947C902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9856" y="769483"/>
            <a:ext cx="6055145" cy="169822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57FF673-A00D-0581-830F-D3BB2EE0A2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3408" y="4687852"/>
            <a:ext cx="9621593" cy="1648055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ABD6651-CA87-DD82-046E-1A9200B88D45}"/>
              </a:ext>
            </a:extLst>
          </p:cNvPr>
          <p:cNvCxnSpPr>
            <a:cxnSpLocks/>
          </p:cNvCxnSpPr>
          <p:nvPr/>
        </p:nvCxnSpPr>
        <p:spPr>
          <a:xfrm flipV="1">
            <a:off x="2080846" y="6540796"/>
            <a:ext cx="8612683" cy="93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836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0">
          <a:extLst>
            <a:ext uri="{FF2B5EF4-FFF2-40B4-BE49-F238E27FC236}">
              <a16:creationId xmlns:a16="http://schemas.microsoft.com/office/drawing/2014/main" id="{43EDDB7F-C849-6DF7-7D0A-39EB3E929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70F6C0-108F-1B98-7C8E-B6AE18657613}"/>
              </a:ext>
            </a:extLst>
          </p:cNvPr>
          <p:cNvSpPr txBox="1"/>
          <p:nvPr/>
        </p:nvSpPr>
        <p:spPr>
          <a:xfrm>
            <a:off x="467956" y="307818"/>
            <a:ext cx="3342706" cy="461665"/>
          </a:xfrm>
          <a:prstGeom prst="rect">
            <a:avLst/>
          </a:prstGeom>
          <a:noFill/>
        </p:spPr>
        <p:txBody>
          <a:bodyPr wrap="none" rIns="36000" rtlCol="0">
            <a:spAutoFit/>
          </a:bodyPr>
          <a:lstStyle/>
          <a:p>
            <a:r>
              <a:rPr lang="en-US" altLang="ko-KR" sz="24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4. </a:t>
            </a:r>
            <a:r>
              <a:rPr lang="ko-KR" altLang="en-US" sz="24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기능별 프로그램 시연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22EC972-247C-B438-B941-2734B1ECC6B0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3810662" y="538651"/>
            <a:ext cx="7777909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3481736-3A4E-6369-F6FF-291B013BB51D}"/>
              </a:ext>
            </a:extLst>
          </p:cNvPr>
          <p:cNvSpPr txBox="1"/>
          <p:nvPr/>
        </p:nvSpPr>
        <p:spPr>
          <a:xfrm>
            <a:off x="792943" y="923354"/>
            <a:ext cx="3845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a옛날사진관3" panose="02020600000000000000" pitchFamily="18" charset="-127"/>
                <a:ea typeface="a옛날사진관3" panose="02020600000000000000"/>
              </a:rPr>
              <a:t>통행료 지불 </a:t>
            </a:r>
            <a:r>
              <a:rPr lang="en-US" altLang="ko-KR" sz="2000">
                <a:latin typeface="a옛날사진관3" panose="02020600000000000000" pitchFamily="18" charset="-127"/>
                <a:ea typeface="a옛날사진관3" panose="02020600000000000000"/>
              </a:rPr>
              <a:t>,</a:t>
            </a:r>
            <a:r>
              <a:rPr lang="ko-KR" altLang="en-US" sz="2000">
                <a:latin typeface="a옛날사진관3" panose="02020600000000000000" pitchFamily="18" charset="-127"/>
                <a:ea typeface="a옛날사진관3" panose="02020600000000000000"/>
              </a:rPr>
              <a:t>매수 및 인수 이벤트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68413C7-C50C-9BE7-818E-4E95C2CE9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72" y="3631260"/>
            <a:ext cx="6348549" cy="239696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EB39171-E14F-EB01-B752-71D2C4DD3B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9185" y="2660736"/>
            <a:ext cx="4725059" cy="161947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776F4DB-4949-F608-D5AC-21FA699751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9185" y="4393711"/>
            <a:ext cx="4725059" cy="163451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82E57E7-A4DD-3D56-3711-BFB86FED08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9185" y="956922"/>
            <a:ext cx="4725059" cy="1507997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86EEBCE-0A2D-F74B-8C20-5F2703167241}"/>
              </a:ext>
            </a:extLst>
          </p:cNvPr>
          <p:cNvCxnSpPr>
            <a:cxnSpLocks/>
          </p:cNvCxnSpPr>
          <p:nvPr/>
        </p:nvCxnSpPr>
        <p:spPr>
          <a:xfrm flipV="1">
            <a:off x="2080846" y="6540796"/>
            <a:ext cx="8612683" cy="93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46993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0">
          <a:extLst>
            <a:ext uri="{FF2B5EF4-FFF2-40B4-BE49-F238E27FC236}">
              <a16:creationId xmlns:a16="http://schemas.microsoft.com/office/drawing/2014/main" id="{06812BDD-CE82-9D11-1A7F-BDF29B2A6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C898A3-FEA8-114B-8B19-15C9541C2540}"/>
              </a:ext>
            </a:extLst>
          </p:cNvPr>
          <p:cNvSpPr txBox="1"/>
          <p:nvPr/>
        </p:nvSpPr>
        <p:spPr>
          <a:xfrm>
            <a:off x="467956" y="307818"/>
            <a:ext cx="3342706" cy="461665"/>
          </a:xfrm>
          <a:prstGeom prst="rect">
            <a:avLst/>
          </a:prstGeom>
          <a:noFill/>
        </p:spPr>
        <p:txBody>
          <a:bodyPr wrap="none" rIns="36000" rtlCol="0">
            <a:spAutoFit/>
          </a:bodyPr>
          <a:lstStyle/>
          <a:p>
            <a:r>
              <a:rPr lang="en-US" altLang="ko-KR" sz="24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4. </a:t>
            </a:r>
            <a:r>
              <a:rPr lang="ko-KR" altLang="en-US" sz="24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기능별 프로그램 시연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B877429-E57C-BA53-1457-3606DCA55FAB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3810662" y="538651"/>
            <a:ext cx="7777909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6ACBB2C-1B64-EC07-F2CF-1FCD3B335AC6}"/>
              </a:ext>
            </a:extLst>
          </p:cNvPr>
          <p:cNvSpPr txBox="1"/>
          <p:nvPr/>
        </p:nvSpPr>
        <p:spPr>
          <a:xfrm>
            <a:off x="792943" y="923354"/>
            <a:ext cx="32736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a옛날사진관3" panose="02020600000000000000" pitchFamily="18" charset="-127"/>
                <a:ea typeface="a옛날사진관3" panose="02020600000000000000"/>
              </a:rPr>
              <a:t>다양한 이벤트 타일 및 카드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902F1447-D8F4-F058-424E-F766B394D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05" y="3135908"/>
            <a:ext cx="4858428" cy="1638529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669126F1-F0B4-0F99-F4DA-554B3B435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3641" y="3019973"/>
            <a:ext cx="4696480" cy="172426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F6EC66B-0C3D-B0E0-5C84-5243EF840F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6930" y="4785607"/>
            <a:ext cx="5029902" cy="177189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CB37042-96C2-B6A2-C66D-804D7E4CBE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870" y="1363322"/>
            <a:ext cx="5087060" cy="169568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1CA8313-1C8D-F0E2-F821-6A84071B2C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262" y="4781425"/>
            <a:ext cx="4753638" cy="167663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64FE5F94-18E0-B7A5-3712-DFF640576D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3641" y="1222551"/>
            <a:ext cx="5001323" cy="1743318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E494CE-D86E-3EBD-AFFA-C5375962BE77}"/>
              </a:ext>
            </a:extLst>
          </p:cNvPr>
          <p:cNvCxnSpPr>
            <a:cxnSpLocks/>
          </p:cNvCxnSpPr>
          <p:nvPr/>
        </p:nvCxnSpPr>
        <p:spPr>
          <a:xfrm flipV="1">
            <a:off x="2080846" y="6540796"/>
            <a:ext cx="8612683" cy="93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3651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0">
          <a:extLst>
            <a:ext uri="{FF2B5EF4-FFF2-40B4-BE49-F238E27FC236}">
              <a16:creationId xmlns:a16="http://schemas.microsoft.com/office/drawing/2014/main" id="{74C35151-92D0-E157-8CCD-12352B562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1F2B66-EC6E-78FE-952A-F2B60AAF4A58}"/>
              </a:ext>
            </a:extLst>
          </p:cNvPr>
          <p:cNvSpPr txBox="1"/>
          <p:nvPr/>
        </p:nvSpPr>
        <p:spPr>
          <a:xfrm>
            <a:off x="467956" y="307818"/>
            <a:ext cx="3342706" cy="461665"/>
          </a:xfrm>
          <a:prstGeom prst="rect">
            <a:avLst/>
          </a:prstGeom>
          <a:noFill/>
        </p:spPr>
        <p:txBody>
          <a:bodyPr wrap="none" rIns="36000" rtlCol="0">
            <a:spAutoFit/>
          </a:bodyPr>
          <a:lstStyle/>
          <a:p>
            <a:r>
              <a:rPr lang="en-US" altLang="ko-KR" sz="24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4. </a:t>
            </a:r>
            <a:r>
              <a:rPr lang="ko-KR" altLang="en-US" sz="24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기능별 프로그램 시연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1D6D125-66FB-7451-5ABB-D1D0C7819FFB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3810662" y="538651"/>
            <a:ext cx="7777909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DE83821-EFA4-005D-D71E-18A9DA489018}"/>
              </a:ext>
            </a:extLst>
          </p:cNvPr>
          <p:cNvSpPr txBox="1"/>
          <p:nvPr/>
        </p:nvSpPr>
        <p:spPr>
          <a:xfrm>
            <a:off x="792943" y="923354"/>
            <a:ext cx="27045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a옛날사진관3" panose="02020600000000000000" pitchFamily="18" charset="-127"/>
                <a:ea typeface="a옛날사진관3" panose="02020600000000000000"/>
              </a:rPr>
              <a:t>후반부 상황 및 결과창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E32C12D-630E-F37C-BA62-247E9231B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43" y="4321040"/>
            <a:ext cx="4528138" cy="2045653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D5DAEA3-AED5-2236-81C5-09ED435980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943" y="1323464"/>
            <a:ext cx="6758888" cy="294084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D9E3579-6857-F0A7-FCE5-49A15F30A2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7087" y="4357331"/>
            <a:ext cx="4528138" cy="2044965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4CBA372-A490-8075-2F29-FE0AE8F09797}"/>
              </a:ext>
            </a:extLst>
          </p:cNvPr>
          <p:cNvCxnSpPr>
            <a:cxnSpLocks/>
          </p:cNvCxnSpPr>
          <p:nvPr/>
        </p:nvCxnSpPr>
        <p:spPr>
          <a:xfrm flipV="1">
            <a:off x="2080846" y="6540796"/>
            <a:ext cx="8612683" cy="93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951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0">
          <a:extLst>
            <a:ext uri="{FF2B5EF4-FFF2-40B4-BE49-F238E27FC236}">
              <a16:creationId xmlns:a16="http://schemas.microsoft.com/office/drawing/2014/main" id="{8F9F92ED-800C-96AA-837F-169534B60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93CA5C-A821-5400-BA2C-E471D5DD1DA5}"/>
              </a:ext>
            </a:extLst>
          </p:cNvPr>
          <p:cNvSpPr txBox="1"/>
          <p:nvPr/>
        </p:nvSpPr>
        <p:spPr>
          <a:xfrm>
            <a:off x="467956" y="307818"/>
            <a:ext cx="1104914" cy="461665"/>
          </a:xfrm>
          <a:prstGeom prst="rect">
            <a:avLst/>
          </a:prstGeom>
          <a:noFill/>
        </p:spPr>
        <p:txBody>
          <a:bodyPr wrap="none" rIns="36000" rtlCol="0">
            <a:spAutoFit/>
          </a:bodyPr>
          <a:lstStyle/>
          <a:p>
            <a:r>
              <a:rPr lang="en-US" altLang="ko-KR" sz="2400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5. </a:t>
            </a:r>
            <a:r>
              <a:rPr lang="ko-KR" altLang="en-US" sz="2400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요약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20B494-4BE3-843F-0A3E-61F819E039CB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572870" y="538651"/>
            <a:ext cx="10015701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913E932-B474-4DEF-E199-0F1001DAE6D0}"/>
              </a:ext>
            </a:extLst>
          </p:cNvPr>
          <p:cNvGrpSpPr/>
          <p:nvPr/>
        </p:nvGrpSpPr>
        <p:grpSpPr>
          <a:xfrm>
            <a:off x="467956" y="566996"/>
            <a:ext cx="8764223" cy="2645228"/>
            <a:chOff x="467956" y="1186543"/>
            <a:chExt cx="8764223" cy="2645228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84758F9F-9272-A235-DB16-3396114718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7956" y="1733751"/>
              <a:ext cx="8764223" cy="1219370"/>
            </a:xfrm>
            <a:prstGeom prst="rect">
              <a:avLst/>
            </a:prstGeom>
          </p:spPr>
        </p:pic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168FEDE1-2ECD-3831-3510-2B5CE850A494}"/>
                </a:ext>
              </a:extLst>
            </p:cNvPr>
            <p:cNvCxnSpPr>
              <a:cxnSpLocks/>
            </p:cNvCxnSpPr>
            <p:nvPr/>
          </p:nvCxnSpPr>
          <p:spPr>
            <a:xfrm>
              <a:off x="4736109" y="1238536"/>
              <a:ext cx="0" cy="259323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D24C5A1B-06F1-2BBE-04A4-A02487A13D69}"/>
                </a:ext>
              </a:extLst>
            </p:cNvPr>
            <p:cNvCxnSpPr>
              <a:cxnSpLocks/>
            </p:cNvCxnSpPr>
            <p:nvPr/>
          </p:nvCxnSpPr>
          <p:spPr>
            <a:xfrm>
              <a:off x="7136674" y="1186543"/>
              <a:ext cx="0" cy="252984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84E0BC4B-72A5-D9AB-76C7-5575CA14ACF1}"/>
                </a:ext>
              </a:extLst>
            </p:cNvPr>
            <p:cNvCxnSpPr>
              <a:cxnSpLocks/>
            </p:cNvCxnSpPr>
            <p:nvPr/>
          </p:nvCxnSpPr>
          <p:spPr>
            <a:xfrm>
              <a:off x="2258520" y="1238536"/>
              <a:ext cx="0" cy="259323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4C3D94A4-A798-36BE-41EB-B721CE5200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693" y="4270460"/>
            <a:ext cx="2854728" cy="12850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C7E4B2-4E1B-8A57-35D6-6D0754FAB14B}"/>
              </a:ext>
            </a:extLst>
          </p:cNvPr>
          <p:cNvSpPr txBox="1"/>
          <p:nvPr/>
        </p:nvSpPr>
        <p:spPr>
          <a:xfrm>
            <a:off x="4114693" y="3867224"/>
            <a:ext cx="3021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페이지 </a:t>
            </a:r>
            <a:r>
              <a:rPr lang="ko-KR" altLang="en-US" dirty="0" err="1"/>
              <a:t>네이션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제네릭 사용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E08199-A623-D179-0095-972CB6DDE4D2}"/>
              </a:ext>
            </a:extLst>
          </p:cNvPr>
          <p:cNvSpPr txBox="1"/>
          <p:nvPr/>
        </p:nvSpPr>
        <p:spPr>
          <a:xfrm>
            <a:off x="7523364" y="3889812"/>
            <a:ext cx="4783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실시간 보드 판 보여주기 </a:t>
            </a:r>
            <a:r>
              <a:rPr lang="en-US" altLang="ko-KR" dirty="0"/>
              <a:t>-&gt; </a:t>
            </a:r>
            <a:r>
              <a:rPr lang="en-US" altLang="ko-KR" dirty="0" err="1"/>
              <a:t>GameState</a:t>
            </a:r>
            <a:r>
              <a:rPr lang="en-US" altLang="ko-KR" dirty="0"/>
              <a:t> </a:t>
            </a:r>
            <a:r>
              <a:rPr lang="ko-KR" altLang="en-US" dirty="0"/>
              <a:t>값 변경</a:t>
            </a:r>
            <a:r>
              <a:rPr lang="en-US" altLang="ko-KR" dirty="0"/>
              <a:t>!</a:t>
            </a:r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310DF2D-C93B-097E-3FCC-7722FBE9F2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3921" y="4292133"/>
            <a:ext cx="1822925" cy="190462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FBE77BE-3941-1433-4A45-7A48F754854C}"/>
              </a:ext>
            </a:extLst>
          </p:cNvPr>
          <p:cNvSpPr txBox="1"/>
          <p:nvPr/>
        </p:nvSpPr>
        <p:spPr>
          <a:xfrm>
            <a:off x="7653921" y="2443181"/>
            <a:ext cx="339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아이템 사용 </a:t>
            </a:r>
            <a:r>
              <a:rPr lang="en-US" altLang="ko-KR" dirty="0"/>
              <a:t>-&gt; Interface </a:t>
            </a:r>
            <a:r>
              <a:rPr lang="ko-KR" altLang="en-US" dirty="0"/>
              <a:t>를 활용</a:t>
            </a:r>
            <a:r>
              <a:rPr lang="en-US" altLang="ko-KR" dirty="0"/>
              <a:t>!</a:t>
            </a:r>
            <a:endParaRPr lang="ko-KR" altLang="en-US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F8F6D73A-1A80-685F-8435-807C48FF70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3921" y="2854820"/>
            <a:ext cx="4648849" cy="924054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F262B6E4-F178-3132-2691-6CB9ECBBB4EF}"/>
              </a:ext>
            </a:extLst>
          </p:cNvPr>
          <p:cNvCxnSpPr>
            <a:cxnSpLocks/>
          </p:cNvCxnSpPr>
          <p:nvPr/>
        </p:nvCxnSpPr>
        <p:spPr>
          <a:xfrm flipV="1">
            <a:off x="2080846" y="6540796"/>
            <a:ext cx="8612683" cy="93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287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8" grpId="0"/>
      <p:bldP spid="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0">
          <a:extLst>
            <a:ext uri="{FF2B5EF4-FFF2-40B4-BE49-F238E27FC236}">
              <a16:creationId xmlns:a16="http://schemas.microsoft.com/office/drawing/2014/main" id="{890A0499-B47A-A62D-AE91-21453DA8A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5BBD417-EB0E-4C58-5318-BDE2F1BD31E8}"/>
              </a:ext>
            </a:extLst>
          </p:cNvPr>
          <p:cNvCxnSpPr>
            <a:cxnSpLocks/>
          </p:cNvCxnSpPr>
          <p:nvPr/>
        </p:nvCxnSpPr>
        <p:spPr>
          <a:xfrm>
            <a:off x="478971" y="538651"/>
            <a:ext cx="11109600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0714A36-FE21-DBC3-1EE7-13705283AA88}"/>
              </a:ext>
            </a:extLst>
          </p:cNvPr>
          <p:cNvSpPr txBox="1"/>
          <p:nvPr/>
        </p:nvSpPr>
        <p:spPr>
          <a:xfrm>
            <a:off x="4572925" y="2708726"/>
            <a:ext cx="3046150" cy="830997"/>
          </a:xfrm>
          <a:prstGeom prst="rect">
            <a:avLst/>
          </a:prstGeom>
          <a:noFill/>
        </p:spPr>
        <p:txBody>
          <a:bodyPr wrap="none" rIns="36000" rtlCol="0">
            <a:spAutoFit/>
          </a:bodyPr>
          <a:lstStyle/>
          <a:p>
            <a:r>
              <a:rPr lang="ko-KR" altLang="en-US" sz="48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감사합니다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E62699-52FF-849A-48C3-97E9C431DD46}"/>
              </a:ext>
            </a:extLst>
          </p:cNvPr>
          <p:cNvSpPr txBox="1"/>
          <p:nvPr/>
        </p:nvSpPr>
        <p:spPr>
          <a:xfrm>
            <a:off x="5674249" y="3807655"/>
            <a:ext cx="84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>
                <a:solidFill>
                  <a:schemeClr val="bg2">
                    <a:lumMod val="50000"/>
                  </a:schemeClr>
                </a:solidFill>
                <a:latin typeface="a옛날사진관3" panose="02020600000000000000" pitchFamily="18" charset="-127"/>
                <a:ea typeface="a옛날사진관3" panose="02020600000000000000" pitchFamily="18" charset="-127"/>
              </a:rPr>
              <a:t>강현준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47853308-A3CE-D111-44EB-4A54A5F3F36C}"/>
              </a:ext>
            </a:extLst>
          </p:cNvPr>
          <p:cNvCxnSpPr>
            <a:cxnSpLocks/>
          </p:cNvCxnSpPr>
          <p:nvPr/>
        </p:nvCxnSpPr>
        <p:spPr>
          <a:xfrm flipV="1">
            <a:off x="2080846" y="6540796"/>
            <a:ext cx="8612683" cy="93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2832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F9480F-A1B6-1A51-82DA-9C5E59D66E0D}"/>
              </a:ext>
            </a:extLst>
          </p:cNvPr>
          <p:cNvSpPr txBox="1"/>
          <p:nvPr/>
        </p:nvSpPr>
        <p:spPr>
          <a:xfrm>
            <a:off x="172524" y="2101892"/>
            <a:ext cx="3933898" cy="461665"/>
          </a:xfrm>
          <a:prstGeom prst="rect">
            <a:avLst/>
          </a:prstGeom>
          <a:noFill/>
        </p:spPr>
        <p:txBody>
          <a:bodyPr wrap="none" rIns="46800" rtlCol="0">
            <a:spAutoFit/>
          </a:bodyPr>
          <a:lstStyle/>
          <a:p>
            <a:r>
              <a:rPr lang="ko-KR" altLang="en-US" sz="24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제목 </a:t>
            </a:r>
            <a:r>
              <a:rPr lang="en-US" altLang="ko-KR" sz="24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– a</a:t>
            </a:r>
            <a:r>
              <a:rPr lang="ko-KR" altLang="en-US" sz="24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옛날사진관</a:t>
            </a:r>
            <a:r>
              <a:rPr lang="en-US" altLang="ko-KR" sz="2400">
                <a:latin typeface="a옛날사진관4" panose="02020600000000000000" pitchFamily="18" charset="-127"/>
                <a:ea typeface="a옛날사진관4" panose="02020600000000000000" pitchFamily="18" charset="-127"/>
              </a:rPr>
              <a:t>4, 24pt</a:t>
            </a:r>
            <a:endParaRPr lang="ko-KR" altLang="en-US" sz="2400">
              <a:latin typeface="a옛날사진관4" panose="02020600000000000000" pitchFamily="18" charset="-127"/>
              <a:ea typeface="a옛날사진관4" panose="02020600000000000000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0220BE-8D10-B94D-BA3E-69E7DCD7C7D6}"/>
              </a:ext>
            </a:extLst>
          </p:cNvPr>
          <p:cNvSpPr txBox="1"/>
          <p:nvPr/>
        </p:nvSpPr>
        <p:spPr>
          <a:xfrm>
            <a:off x="172524" y="2885608"/>
            <a:ext cx="35141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a옛날사진관3" panose="02020600000000000000" pitchFamily="18" charset="-127"/>
                <a:ea typeface="a옛날사진관3" panose="02020600000000000000" pitchFamily="18" charset="-127"/>
              </a:rPr>
              <a:t>소제목 </a:t>
            </a:r>
            <a:r>
              <a:rPr lang="en-US" altLang="ko-KR" sz="2000">
                <a:latin typeface="a옛날사진관3" panose="02020600000000000000" pitchFamily="18" charset="-127"/>
                <a:ea typeface="a옛날사진관3" panose="02020600000000000000" pitchFamily="18" charset="-127"/>
              </a:rPr>
              <a:t>– a</a:t>
            </a:r>
            <a:r>
              <a:rPr lang="ko-KR" altLang="en-US" sz="2000">
                <a:latin typeface="a옛날사진관3" panose="02020600000000000000" pitchFamily="18" charset="-127"/>
                <a:ea typeface="a옛날사진관3" panose="02020600000000000000" pitchFamily="18" charset="-127"/>
              </a:rPr>
              <a:t>옛날사진관</a:t>
            </a:r>
            <a:r>
              <a:rPr lang="en-US" altLang="ko-KR" sz="2000">
                <a:latin typeface="a옛날사진관3" panose="02020600000000000000" pitchFamily="18" charset="-127"/>
                <a:ea typeface="a옛날사진관3" panose="02020600000000000000" pitchFamily="18" charset="-127"/>
              </a:rPr>
              <a:t>3, 20pt</a:t>
            </a:r>
            <a:endParaRPr lang="ko-KR" altLang="en-US" sz="2000">
              <a:latin typeface="a옛날사진관3" panose="02020600000000000000" pitchFamily="18" charset="-127"/>
              <a:ea typeface="a옛날사진관3" panose="02020600000000000000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227A8D-4D8F-4CED-A33D-1AAD1D94CBB1}"/>
              </a:ext>
            </a:extLst>
          </p:cNvPr>
          <p:cNvSpPr txBox="1"/>
          <p:nvPr/>
        </p:nvSpPr>
        <p:spPr>
          <a:xfrm>
            <a:off x="172524" y="3607769"/>
            <a:ext cx="3515706" cy="227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본문 </a:t>
            </a:r>
            <a:r>
              <a:rPr lang="en-US" altLang="ko-KR"/>
              <a:t>– </a:t>
            </a:r>
            <a:r>
              <a:rPr lang="ko-KR" altLang="en-US" err="1"/>
              <a:t>나눔스퀘어</a:t>
            </a:r>
            <a:r>
              <a:rPr lang="en-US" altLang="ko-KR"/>
              <a:t>, 18pt</a:t>
            </a:r>
          </a:p>
          <a:p>
            <a:endParaRPr lang="en-US" altLang="ko-KR"/>
          </a:p>
          <a:p>
            <a:r>
              <a:rPr lang="ko-KR" altLang="en-US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본문 강조 </a:t>
            </a:r>
            <a:r>
              <a:rPr lang="en-US" altLang="ko-KR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– </a:t>
            </a:r>
            <a:r>
              <a:rPr lang="ko-KR" altLang="en-US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나눔스퀘어</a:t>
            </a:r>
            <a:r>
              <a:rPr lang="ko-KR" altLang="en-US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Bold, 18pt</a:t>
            </a:r>
          </a:p>
          <a:p>
            <a:endParaRPr lang="en-US" altLang="ko-KR">
              <a:latin typeface="+mn-ea"/>
            </a:endParaRPr>
          </a:p>
          <a:p>
            <a:r>
              <a:rPr lang="ko-KR" altLang="en-US">
                <a:latin typeface="+mn-ea"/>
              </a:rPr>
              <a:t>하위 요소</a:t>
            </a:r>
            <a:endParaRPr lang="en-US" altLang="ko-KR">
              <a:latin typeface="+mn-ea"/>
            </a:endParaRPr>
          </a:p>
          <a:p>
            <a:pPr marL="742950" lvl="1" indent="-285750">
              <a:buFontTx/>
              <a:buChar char="-"/>
            </a:pPr>
            <a:r>
              <a:rPr lang="ko-KR" altLang="en-US">
                <a:latin typeface="+mn-ea"/>
              </a:rPr>
              <a:t>하위 요소 </a:t>
            </a:r>
            <a:r>
              <a:rPr lang="en-US" altLang="ko-KR">
                <a:latin typeface="+mn-ea"/>
              </a:rPr>
              <a:t>1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600">
                <a:latin typeface="+mn-ea"/>
              </a:rPr>
              <a:t>하위 요소 </a:t>
            </a:r>
            <a:r>
              <a:rPr lang="en-US" altLang="ko-KR" sz="1600">
                <a:latin typeface="+mn-ea"/>
              </a:rPr>
              <a:t>2, 16pt</a:t>
            </a:r>
          </a:p>
          <a:p>
            <a:pPr marL="742950" lvl="1" indent="-285750">
              <a:buFontTx/>
              <a:buChar char="-"/>
            </a:pPr>
            <a:r>
              <a:rPr lang="ko-KR" altLang="en-US">
                <a:solidFill>
                  <a:srgbClr val="FF0000"/>
                </a:solidFill>
                <a:latin typeface="+mn-ea"/>
              </a:rPr>
              <a:t>내용 강조 </a:t>
            </a:r>
            <a:r>
              <a:rPr lang="en-US" altLang="ko-KR">
                <a:solidFill>
                  <a:srgbClr val="FF0000"/>
                </a:solidFill>
                <a:latin typeface="+mn-ea"/>
              </a:rPr>
              <a:t>(RED)</a:t>
            </a:r>
            <a:endParaRPr lang="ko-KR" altLang="en-US">
              <a:solidFill>
                <a:srgbClr val="FF0000"/>
              </a:solidFill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8150C0-AA88-639E-FD1F-A893CE465DF1}"/>
              </a:ext>
            </a:extLst>
          </p:cNvPr>
          <p:cNvSpPr txBox="1"/>
          <p:nvPr/>
        </p:nvSpPr>
        <p:spPr>
          <a:xfrm>
            <a:off x="172524" y="1010400"/>
            <a:ext cx="37728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>
                <a:latin typeface="+mj-lt"/>
              </a:rPr>
              <a:t>Font Setting</a:t>
            </a:r>
            <a:endParaRPr lang="ko-KR" altLang="en-US" sz="4400">
              <a:latin typeface="+mj-lt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76B6A42-2F92-C44F-B88D-8F0682C1BE80}"/>
              </a:ext>
            </a:extLst>
          </p:cNvPr>
          <p:cNvGrpSpPr/>
          <p:nvPr/>
        </p:nvGrpSpPr>
        <p:grpSpPr>
          <a:xfrm>
            <a:off x="4051509" y="4326469"/>
            <a:ext cx="3270752" cy="2186374"/>
            <a:chOff x="3512013" y="1642846"/>
            <a:chExt cx="3270752" cy="2186374"/>
          </a:xfrm>
        </p:grpSpPr>
        <p:pic>
          <p:nvPicPr>
            <p:cNvPr id="4" name="Picture 4" descr="Understanding Tensorflow, Keras, and Pytorch — Differences and Installation  Guide | by Pushkar | Codersarts Read | Medium">
              <a:extLst>
                <a:ext uri="{FF2B5EF4-FFF2-40B4-BE49-F238E27FC236}">
                  <a16:creationId xmlns:a16="http://schemas.microsoft.com/office/drawing/2014/main" id="{023F6D27-A66A-3A5D-6FA4-718A4F8ACE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12013" y="1642846"/>
              <a:ext cx="3270752" cy="18939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6D01E22-129F-37D1-3097-F44BC05CE473}"/>
                </a:ext>
              </a:extLst>
            </p:cNvPr>
            <p:cNvSpPr txBox="1"/>
            <p:nvPr/>
          </p:nvSpPr>
          <p:spPr>
            <a:xfrm>
              <a:off x="4185714" y="3521443"/>
              <a:ext cx="18688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>
                  <a:latin typeface="+mn-ea"/>
                </a:rPr>
                <a:t>Deep learning library</a:t>
              </a:r>
              <a:endParaRPr lang="ko-KR" altLang="en-US" sz="1400">
                <a:latin typeface="+mn-ea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9B665089-C90C-D56B-0580-4DAC520520B5}"/>
              </a:ext>
            </a:extLst>
          </p:cNvPr>
          <p:cNvGrpSpPr/>
          <p:nvPr/>
        </p:nvGrpSpPr>
        <p:grpSpPr>
          <a:xfrm>
            <a:off x="7497123" y="4329361"/>
            <a:ext cx="4630944" cy="2183482"/>
            <a:chOff x="6957627" y="1645738"/>
            <a:chExt cx="4630944" cy="2183482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B388C5AE-53DF-FBD3-C596-6024F4390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57627" y="1645738"/>
              <a:ext cx="4630944" cy="1893985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0859D96-6590-25A8-827B-E3A948ED1EE4}"/>
                </a:ext>
              </a:extLst>
            </p:cNvPr>
            <p:cNvSpPr txBox="1"/>
            <p:nvPr/>
          </p:nvSpPr>
          <p:spPr>
            <a:xfrm>
              <a:off x="8353713" y="3521443"/>
              <a:ext cx="18387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>
                  <a:latin typeface="+mn-ea"/>
                </a:rPr>
                <a:t>Deep learning layers</a:t>
              </a:r>
              <a:endParaRPr lang="ko-KR" altLang="en-US" sz="1400">
                <a:latin typeface="+mn-ea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5957BF1-FED2-336B-2925-79E5EF3E6F19}"/>
              </a:ext>
            </a:extLst>
          </p:cNvPr>
          <p:cNvGrpSpPr/>
          <p:nvPr/>
        </p:nvGrpSpPr>
        <p:grpSpPr>
          <a:xfrm>
            <a:off x="4475259" y="634655"/>
            <a:ext cx="2423252" cy="2186374"/>
            <a:chOff x="4475259" y="1063857"/>
            <a:chExt cx="2423252" cy="2186374"/>
          </a:xfrm>
        </p:grpSpPr>
        <p:pic>
          <p:nvPicPr>
            <p:cNvPr id="13" name="Picture 4" descr="Understanding Tensorflow, Keras, and Pytorch — Differences and Installation  Guide | by Pushkar | Codersarts Read | Medium">
              <a:extLst>
                <a:ext uri="{FF2B5EF4-FFF2-40B4-BE49-F238E27FC236}">
                  <a16:creationId xmlns:a16="http://schemas.microsoft.com/office/drawing/2014/main" id="{76B1BDC2-7ADB-1C26-49E6-DDB7CEDBD6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75259" y="1063857"/>
              <a:ext cx="2423252" cy="18939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C11B9AA-5F85-8E9E-0721-8F86D1CE11CF}"/>
                </a:ext>
              </a:extLst>
            </p:cNvPr>
            <p:cNvSpPr txBox="1"/>
            <p:nvPr/>
          </p:nvSpPr>
          <p:spPr>
            <a:xfrm>
              <a:off x="4725210" y="2942454"/>
              <a:ext cx="18688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>
                  <a:latin typeface="+mn-ea"/>
                </a:rPr>
                <a:t>Deep learning library</a:t>
              </a:r>
              <a:endParaRPr lang="ko-KR" altLang="en-US" sz="1400">
                <a:latin typeface="+mn-ea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BC1DD1A-5FAD-2BC5-F732-CB2942CFE4B7}"/>
              </a:ext>
            </a:extLst>
          </p:cNvPr>
          <p:cNvGrpSpPr/>
          <p:nvPr/>
        </p:nvGrpSpPr>
        <p:grpSpPr>
          <a:xfrm>
            <a:off x="7899236" y="637547"/>
            <a:ext cx="3669974" cy="2183482"/>
            <a:chOff x="8055980" y="1066749"/>
            <a:chExt cx="3513230" cy="2183482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CEDCA6C5-B96E-CF28-66A4-F4978861A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55980" y="1066749"/>
              <a:ext cx="3513230" cy="1893985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D6ADB59-81F6-A1C7-CD34-FFE594CAABF0}"/>
                </a:ext>
              </a:extLst>
            </p:cNvPr>
            <p:cNvSpPr txBox="1"/>
            <p:nvPr/>
          </p:nvSpPr>
          <p:spPr>
            <a:xfrm>
              <a:off x="8893209" y="2942454"/>
              <a:ext cx="18387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>
                  <a:latin typeface="+mn-ea"/>
                </a:rPr>
                <a:t>Deep learning layers</a:t>
              </a:r>
              <a:endParaRPr lang="ko-KR" altLang="en-US" sz="1400">
                <a:latin typeface="+mn-ea"/>
              </a:endParaRPr>
            </a:p>
          </p:txBody>
        </p:sp>
      </p:grpSp>
      <p:sp>
        <p:nvSpPr>
          <p:cNvPr id="20" name="화살표: 아래쪽 19">
            <a:extLst>
              <a:ext uri="{FF2B5EF4-FFF2-40B4-BE49-F238E27FC236}">
                <a16:creationId xmlns:a16="http://schemas.microsoft.com/office/drawing/2014/main" id="{E758E3F9-2733-0E3F-4DBF-4A69965428D1}"/>
              </a:ext>
            </a:extLst>
          </p:cNvPr>
          <p:cNvSpPr/>
          <p:nvPr/>
        </p:nvSpPr>
        <p:spPr>
          <a:xfrm>
            <a:off x="6671806" y="3080209"/>
            <a:ext cx="821803" cy="978365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531CC2-7955-F7C4-598B-7C638DB1D8BB}"/>
              </a:ext>
            </a:extLst>
          </p:cNvPr>
          <p:cNvSpPr txBox="1"/>
          <p:nvPr/>
        </p:nvSpPr>
        <p:spPr>
          <a:xfrm>
            <a:off x="7665212" y="3135055"/>
            <a:ext cx="42947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>
                <a:solidFill>
                  <a:srgbClr val="FF0000"/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!!</a:t>
            </a:r>
            <a:r>
              <a:rPr lang="ko-KR" altLang="en-US" sz="2400">
                <a:solidFill>
                  <a:srgbClr val="FF0000"/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이미지 원본 비율 최대한 유지</a:t>
            </a:r>
            <a:endParaRPr lang="en-US" altLang="ko-KR" sz="2400">
              <a:solidFill>
                <a:srgbClr val="FF0000"/>
              </a:solidFill>
              <a:latin typeface="a옛날사진관4" panose="02020600000000000000" pitchFamily="18" charset="-127"/>
              <a:ea typeface="a옛날사진관4" panose="02020600000000000000" pitchFamily="18" charset="-127"/>
            </a:endParaRPr>
          </a:p>
          <a:p>
            <a:r>
              <a:rPr lang="ko-KR" altLang="en-US" sz="2400">
                <a:solidFill>
                  <a:srgbClr val="FF0000"/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차라리 전체 크기를 줄이자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6">
      <a:majorFont>
        <a:latin typeface="a옛날사진관4"/>
        <a:ea typeface="나눔스퀘어"/>
        <a:cs typeface=""/>
      </a:majorFont>
      <a:minorFont>
        <a:latin typeface="나눔스퀘어"/>
        <a:ea typeface="나눔스퀘어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사용자 지정 1">
      <a:majorFont>
        <a:latin typeface="옛날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ce2500d-4cde-4c32-bf1d-4ed01725878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4B08D16BFC38AC41AFEA78600598EC62" ma:contentTypeVersion="6" ma:contentTypeDescription="새 문서를 만듭니다." ma:contentTypeScope="" ma:versionID="94efc42bd05764810bb3649c718e5286">
  <xsd:schema xmlns:xsd="http://www.w3.org/2001/XMLSchema" xmlns:xs="http://www.w3.org/2001/XMLSchema" xmlns:p="http://schemas.microsoft.com/office/2006/metadata/properties" xmlns:ns3="2ce2500d-4cde-4c32-bf1d-4ed017258787" targetNamespace="http://schemas.microsoft.com/office/2006/metadata/properties" ma:root="true" ma:fieldsID="898a730713dd69196f4a82653da917f5" ns3:_="">
    <xsd:import namespace="2ce2500d-4cde-4c32-bf1d-4ed01725878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e2500d-4cde-4c32-bf1d-4ed0172587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4201FA6-47FB-49BD-82BA-62CB43ED3D3A}">
  <ds:schemaRefs>
    <ds:schemaRef ds:uri="http://purl.org/dc/elements/1.1/"/>
    <ds:schemaRef ds:uri="http://schemas.openxmlformats.org/package/2006/metadata/core-properties"/>
    <ds:schemaRef ds:uri="2ce2500d-4cde-4c32-bf1d-4ed017258787"/>
    <ds:schemaRef ds:uri="http://purl.org/dc/terms/"/>
    <ds:schemaRef ds:uri="http://www.w3.org/XML/1998/namespace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AE7E4BE-4728-4D78-B69F-85A1F02670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DDB80B-97DA-4E05-BDCB-E4E1284881A6}">
  <ds:schemaRefs>
    <ds:schemaRef ds:uri="2ce2500d-4cde-4c32-bf1d-4ed01725878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291</TotalTime>
  <Words>462</Words>
  <Application>Microsoft Office PowerPoint</Application>
  <PresentationFormat>와이드스크린</PresentationFormat>
  <Paragraphs>86</Paragraphs>
  <Slides>20</Slides>
  <Notes>20</Notes>
  <HiddenSlides>1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a옛날사진관4</vt:lpstr>
      <vt:lpstr>나눔스퀘어 Bold</vt:lpstr>
      <vt:lpstr>Arial</vt:lpstr>
      <vt:lpstr>나눔스퀘어</vt:lpstr>
      <vt:lpstr>a옛날사진관3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아카데미005 퍼스트존</cp:lastModifiedBy>
  <cp:revision>12</cp:revision>
  <dcterms:modified xsi:type="dcterms:W3CDTF">2026-06-17T01:09:26Z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0x0101004B08D16BFC38AC41AFEA78600598EC62</vt:lpwstr>
  </property>
</Properties>
</file>